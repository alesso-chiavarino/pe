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12192000"/>
  <p:notesSz cx="6858000" cy="9144000"/>
  <p:embeddedFontLst>
    <p:embeddedFont>
      <p:font typeface="Helvetica Neue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7E0E7F2-8247-4FA1-82FD-09F0CBEFD509}">
  <a:tblStyle styleId="{B7E0E7F2-8247-4FA1-82FD-09F0CBEFD50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HelveticaNeue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HelveticaNeue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HelveticaNeue-boldItalic.fntdata"/><Relationship Id="rId30" Type="http://schemas.openxmlformats.org/officeDocument/2006/relationships/font" Target="fonts/HelveticaNeue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200"/>
              <a:t>Duración sugerida: 30 segundos. Presentar el objetivo general: construimos un detector de transacciones sospechosas y usamos el problema para comparar una solución inicial con distintas optimizaciones. Aclarar que todas las versiones encuentran exactamente las mismas alertas.</a:t>
            </a:r>
            <a:endParaRPr/>
          </a:p>
        </p:txBody>
      </p:sp>
      <p:sp>
        <p:nvSpPr>
          <p:cNvPr id="54" name="Google Shape;5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" name="Google Shape;63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200"/>
              <a:t>Duración sugerida: 50 segundos. Explicar los cuatro patrones. El rendimiento importa porque cada transacción necesita consultar historial, tiempo, montos y ubicación. Con pocos datos cualquier enfoque parece rápido, pero los recorridos repetidos crecen mucho cuando aumenta el volumen.</a:t>
            </a:r>
            <a:endParaRPr/>
          </a:p>
        </p:txBody>
      </p:sp>
      <p:sp>
        <p:nvSpPr>
          <p:cNvPr id="64" name="Google Shape;64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" name="Google Shape;7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200"/>
              <a:t>Duración sugerida: 60 segundos. Mostrar la arquitectura general: modelos.py define los datos, generador.py crea el caso de prueba, algoritmos_ordenamiento.py contiene los dos algoritmos y detectores.py reúne las versiones. La baseline primero ordena con Burbuja y después vuelve a buscar el historial para cada operación.</a:t>
            </a:r>
            <a:endParaRPr/>
          </a:p>
        </p:txBody>
      </p:sp>
      <p:sp>
        <p:nvSpPr>
          <p:cNvPr id="80" name="Google Shape;80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8b9f159c47_1_9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8b9f159c47_1_9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8b9f159c47_1_9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8b9f159c47_1_8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8b9f159c47_1_8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-AR" sz="1200"/>
              <a:t>Duración sugerida: 75 segundos. Derivar Burbuja: suma n menos 1, n menos 2, hasta 1, que da n por n menos 1 dividido 2. Se eliminan constantes y queda O de n cuadrado. En Quicksort hay aproximadamente logaritmo base dos de n niveles y cada nivel revisa n elementos, por eso el promedio es O de n log n. La búsqueda lineal repetida también vuelve cuadrática a la baseline.</a:t>
            </a:r>
            <a:endParaRPr/>
          </a:p>
        </p:txBody>
      </p:sp>
      <p:sp>
        <p:nvSpPr>
          <p:cNvPr id="130" name="Google Shape;130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9" name="Google Shape;149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-AR" sz="1200"/>
              <a:t>Duración sugerida: 60 segundos. Justificar la elección: Quicksort mantiene un código entendible y mejora la escalabilidad. La búsqueda binaria no sirve como operación principal porque no buscamos un único valor. Debemos recorrer todas las operaciones y mantener ventanas temporales. Explicar también list, dict, deque y set con la operación que cada estructura mejora.</a:t>
            </a:r>
            <a:endParaRPr/>
          </a:p>
        </p:txBody>
      </p:sp>
      <p:sp>
        <p:nvSpPr>
          <p:cNvPr id="150" name="Google Shape;150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1" name="Google Shape;171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-AR" sz="1200"/>
              <a:t>Duración sugerida: 60 segundos. Explicar la diferencia pedida por el enunciado. Memoización guarda un cálculo para reutilizarlo. El caché además necesita capacidad e invalidación. En un mismo análisis el perfil no cambia, por eso se consulta 5.000 veces pero solo se calcula para los 101 usuarios. Cuando cambia el conjunto de datos se borra el caché.</a:t>
            </a:r>
            <a:endParaRPr/>
          </a:p>
        </p:txBody>
      </p:sp>
      <p:sp>
        <p:nvSpPr>
          <p:cNvPr id="172" name="Google Shape;172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" name="Google Shape;196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200"/>
              <a:t>Duración sugerida: 60 segundos. Cada usuario es independiente, por eso se reparten grupos entre procesos con ProcessPoolExecutor. Se eligieron procesos porque el trabajo es de CPU y los hilos están limitados por el GIL. Los riesgos son creación de procesos, serialización, memoria adicional y orden de resultados. No hay condición de carrera porque cada proceso devuelve su propia lista y el principal las combina.</a:t>
            </a:r>
            <a:endParaRPr/>
          </a:p>
        </p:txBody>
      </p:sp>
      <p:sp>
        <p:nvSpPr>
          <p:cNvPr id="197" name="Google Shape;197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2" name="Google Shape;222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-AR" sz="1200"/>
              <a:t>Duración sugerida: 60 segundos. Nombrar las herramientas: perf_counter para tiempo, tracemalloc para pico de memoria y cProfile para tiempo por función. El perfil inicial tardó 0,809 segundos y Burbuja acumuló 0,411. La versión optimizada tardó 0,013. El perfilado permitió localizar el cuello de botella antes de decidir el cambio.</a:t>
            </a:r>
            <a:endParaRPr/>
          </a:p>
        </p:txBody>
      </p:sp>
      <p:sp>
        <p:nvSpPr>
          <p:cNvPr id="223" name="Google Shape;223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2" name="Google Shape;242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-AR" sz="1200"/>
              <a:t>Duración sugerida: 70 segundos. Esta es la tabla obligatoria. Destacar que todas las filas devuelven nueve alertas, así que se compara rendimiento sin cambiar el resultado. La mayor reducción aparece al combinar el algoritmo y el caché. La memoria de la fila paralela corresponde al proceso principal porque tracemalloc no incluye toda la memoria interna de los procesos hijos.</a:t>
            </a:r>
            <a:endParaRPr/>
          </a:p>
        </p:txBody>
      </p:sp>
      <p:sp>
        <p:nvSpPr>
          <p:cNvPr id="243" name="Google Shape;243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9" name="Google Shape;259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200"/>
              <a:t>Duración sugerida: 50 segundos. La prueba se repitió con mil, dos mil quinientas y cinco mil transacciones. La mejora pasó de 32,6 veces a 155,6 veces. La curva cuadrática crece cada vez más rápido, mientras la optimizada aumenta casi de forma lineal en estos tamaños. Esto responde a la pregunta de si la mejora se mantiene al aumentar el volumen.</a:t>
            </a:r>
            <a:endParaRPr/>
          </a:p>
        </p:txBody>
      </p:sp>
      <p:sp>
        <p:nvSpPr>
          <p:cNvPr id="260" name="Google Shape;260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8b9f159c47_1_8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8b9f159c47_1_8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38b9f159c47_1_8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2" name="Google Shape;282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200"/>
              <a:t>Duración sugerida: 45 segundos. Cerrar con tres respuestas directas al enunciado. La mayor mejora vino del algoritmo, las estructuras y el caché. La decisión que no mejoró el tiempo fue el paralelismo. En una siguiente versión usaríamos datos reales y reglas de mayor costo, pero volveríamos a perfilar antes de decidir.</a:t>
            </a:r>
            <a:endParaRPr/>
          </a:p>
        </p:txBody>
      </p:sp>
      <p:sp>
        <p:nvSpPr>
          <p:cNvPr id="283" name="Google Shape;283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ctrTitle"/>
          </p:nvPr>
        </p:nvSpPr>
        <p:spPr>
          <a:xfrm>
            <a:off x="393700" y="1041400"/>
            <a:ext cx="7493000" cy="249149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Helvetica Neue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393700" y="4356100"/>
            <a:ext cx="5537200" cy="16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1" type="ftr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Clr>
                <a:schemeClr val="dk1"/>
              </a:buClr>
              <a:buSzPts val="1000"/>
              <a:buFont typeface="Helvetica Neue"/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r">
              <a:spcBef>
                <a:spcPts val="0"/>
              </a:spcBef>
              <a:buClr>
                <a:schemeClr val="dk1"/>
              </a:buClr>
              <a:buSzPts val="1000"/>
              <a:buFont typeface="Helvetica Neue"/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r">
              <a:spcBef>
                <a:spcPts val="0"/>
              </a:spcBef>
              <a:buClr>
                <a:schemeClr val="dk1"/>
              </a:buClr>
              <a:buSzPts val="1000"/>
              <a:buFont typeface="Helvetica Neue"/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r">
              <a:spcBef>
                <a:spcPts val="0"/>
              </a:spcBef>
              <a:buClr>
                <a:schemeClr val="dk1"/>
              </a:buClr>
              <a:buSzPts val="1000"/>
              <a:buFont typeface="Helvetica Neue"/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r">
              <a:spcBef>
                <a:spcPts val="0"/>
              </a:spcBef>
              <a:buClr>
                <a:schemeClr val="dk1"/>
              </a:buClr>
              <a:buSzPts val="1000"/>
              <a:buFont typeface="Helvetica Neue"/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r">
              <a:spcBef>
                <a:spcPts val="0"/>
              </a:spcBef>
              <a:buClr>
                <a:schemeClr val="dk1"/>
              </a:buClr>
              <a:buSzPts val="1000"/>
              <a:buFont typeface="Helvetica Neue"/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r">
              <a:spcBef>
                <a:spcPts val="0"/>
              </a:spcBef>
              <a:buClr>
                <a:schemeClr val="dk1"/>
              </a:buClr>
              <a:buSzPts val="1000"/>
              <a:buFont typeface="Helvetica Neue"/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r">
              <a:spcBef>
                <a:spcPts val="0"/>
              </a:spcBef>
              <a:buClr>
                <a:schemeClr val="dk1"/>
              </a:buClr>
              <a:buSzPts val="1000"/>
              <a:buFont typeface="Helvetica Neue"/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r">
              <a:spcBef>
                <a:spcPts val="0"/>
              </a:spcBef>
              <a:buClr>
                <a:schemeClr val="dk1"/>
              </a:buClr>
              <a:buSzPts val="1000"/>
              <a:buFont typeface="Helvetica Neue"/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sp>
        <p:nvSpPr>
          <p:cNvPr id="20" name="Google Shape;20;p3"/>
          <p:cNvSpPr txBox="1"/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1" type="ftr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Clr>
                <a:schemeClr val="dk1"/>
              </a:buClr>
              <a:buSzPts val="1000"/>
              <a:buFont typeface="Helvetica Neue"/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r">
              <a:spcBef>
                <a:spcPts val="0"/>
              </a:spcBef>
              <a:buClr>
                <a:schemeClr val="dk1"/>
              </a:buClr>
              <a:buSzPts val="1000"/>
              <a:buFont typeface="Helvetica Neue"/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r">
              <a:spcBef>
                <a:spcPts val="0"/>
              </a:spcBef>
              <a:buClr>
                <a:schemeClr val="dk1"/>
              </a:buClr>
              <a:buSzPts val="1000"/>
              <a:buFont typeface="Helvetica Neue"/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r">
              <a:spcBef>
                <a:spcPts val="0"/>
              </a:spcBef>
              <a:buClr>
                <a:schemeClr val="dk1"/>
              </a:buClr>
              <a:buSzPts val="1000"/>
              <a:buFont typeface="Helvetica Neue"/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r">
              <a:spcBef>
                <a:spcPts val="0"/>
              </a:spcBef>
              <a:buClr>
                <a:schemeClr val="dk1"/>
              </a:buClr>
              <a:buSzPts val="1000"/>
              <a:buFont typeface="Helvetica Neue"/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r">
              <a:spcBef>
                <a:spcPts val="0"/>
              </a:spcBef>
              <a:buClr>
                <a:schemeClr val="dk1"/>
              </a:buClr>
              <a:buSzPts val="1000"/>
              <a:buFont typeface="Helvetica Neue"/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r">
              <a:spcBef>
                <a:spcPts val="0"/>
              </a:spcBef>
              <a:buClr>
                <a:schemeClr val="dk1"/>
              </a:buClr>
              <a:buSzPts val="1000"/>
              <a:buFont typeface="Helvetica Neue"/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r">
              <a:spcBef>
                <a:spcPts val="0"/>
              </a:spcBef>
              <a:buClr>
                <a:schemeClr val="dk1"/>
              </a:buClr>
              <a:buSzPts val="1000"/>
              <a:buFont typeface="Helvetica Neue"/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r">
              <a:spcBef>
                <a:spcPts val="0"/>
              </a:spcBef>
              <a:buClr>
                <a:schemeClr val="dk1"/>
              </a:buClr>
              <a:buSzPts val="1000"/>
              <a:buFont typeface="Helvetica Neue"/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sp>
        <p:nvSpPr>
          <p:cNvPr id="25" name="Google Shape;25;p4"/>
          <p:cNvSpPr txBox="1"/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93700" y="2032000"/>
            <a:ext cx="5537200" cy="3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1" type="ftr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Clr>
                <a:schemeClr val="dk1"/>
              </a:buClr>
              <a:buSzPts val="1000"/>
              <a:buFont typeface="Helvetica Neue"/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r">
              <a:spcBef>
                <a:spcPts val="0"/>
              </a:spcBef>
              <a:buClr>
                <a:schemeClr val="dk1"/>
              </a:buClr>
              <a:buSzPts val="1000"/>
              <a:buFont typeface="Helvetica Neue"/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r">
              <a:spcBef>
                <a:spcPts val="0"/>
              </a:spcBef>
              <a:buClr>
                <a:schemeClr val="dk1"/>
              </a:buClr>
              <a:buSzPts val="1000"/>
              <a:buFont typeface="Helvetica Neue"/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r">
              <a:spcBef>
                <a:spcPts val="0"/>
              </a:spcBef>
              <a:buClr>
                <a:schemeClr val="dk1"/>
              </a:buClr>
              <a:buSzPts val="1000"/>
              <a:buFont typeface="Helvetica Neue"/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r">
              <a:spcBef>
                <a:spcPts val="0"/>
              </a:spcBef>
              <a:buClr>
                <a:schemeClr val="dk1"/>
              </a:buClr>
              <a:buSzPts val="1000"/>
              <a:buFont typeface="Helvetica Neue"/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r">
              <a:spcBef>
                <a:spcPts val="0"/>
              </a:spcBef>
              <a:buClr>
                <a:schemeClr val="dk1"/>
              </a:buClr>
              <a:buSzPts val="1000"/>
              <a:buFont typeface="Helvetica Neue"/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r">
              <a:spcBef>
                <a:spcPts val="0"/>
              </a:spcBef>
              <a:buClr>
                <a:schemeClr val="dk1"/>
              </a:buClr>
              <a:buSzPts val="1000"/>
              <a:buFont typeface="Helvetica Neue"/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r">
              <a:spcBef>
                <a:spcPts val="0"/>
              </a:spcBef>
              <a:buClr>
                <a:schemeClr val="dk1"/>
              </a:buClr>
              <a:buSzPts val="1000"/>
              <a:buFont typeface="Helvetica Neue"/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r">
              <a:spcBef>
                <a:spcPts val="0"/>
              </a:spcBef>
              <a:buClr>
                <a:schemeClr val="dk1"/>
              </a:buClr>
              <a:buSzPts val="1000"/>
              <a:buFont typeface="Helvetica Neue"/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6256618" y="2032000"/>
            <a:ext cx="5537200" cy="3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ntent">
  <p:cSld name="Three Conte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idx="1" type="body"/>
          </p:nvPr>
        </p:nvSpPr>
        <p:spPr>
          <a:xfrm>
            <a:off x="393700" y="2032000"/>
            <a:ext cx="3568700" cy="3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Clr>
                <a:schemeClr val="dk1"/>
              </a:buClr>
              <a:buSzPts val="1000"/>
              <a:buFont typeface="Helvetica Neue"/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r">
              <a:spcBef>
                <a:spcPts val="0"/>
              </a:spcBef>
              <a:buClr>
                <a:schemeClr val="dk1"/>
              </a:buClr>
              <a:buSzPts val="1000"/>
              <a:buFont typeface="Helvetica Neue"/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r">
              <a:spcBef>
                <a:spcPts val="0"/>
              </a:spcBef>
              <a:buClr>
                <a:schemeClr val="dk1"/>
              </a:buClr>
              <a:buSzPts val="1000"/>
              <a:buFont typeface="Helvetica Neue"/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r">
              <a:spcBef>
                <a:spcPts val="0"/>
              </a:spcBef>
              <a:buClr>
                <a:schemeClr val="dk1"/>
              </a:buClr>
              <a:buSzPts val="1000"/>
              <a:buFont typeface="Helvetica Neue"/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r">
              <a:spcBef>
                <a:spcPts val="0"/>
              </a:spcBef>
              <a:buClr>
                <a:schemeClr val="dk1"/>
              </a:buClr>
              <a:buSzPts val="1000"/>
              <a:buFont typeface="Helvetica Neue"/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r">
              <a:spcBef>
                <a:spcPts val="0"/>
              </a:spcBef>
              <a:buClr>
                <a:schemeClr val="dk1"/>
              </a:buClr>
              <a:buSzPts val="1000"/>
              <a:buFont typeface="Helvetica Neue"/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r">
              <a:spcBef>
                <a:spcPts val="0"/>
              </a:spcBef>
              <a:buClr>
                <a:schemeClr val="dk1"/>
              </a:buClr>
              <a:buSzPts val="1000"/>
              <a:buFont typeface="Helvetica Neue"/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r">
              <a:spcBef>
                <a:spcPts val="0"/>
              </a:spcBef>
              <a:buClr>
                <a:schemeClr val="dk1"/>
              </a:buClr>
              <a:buSzPts val="1000"/>
              <a:buFont typeface="Helvetica Neue"/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r">
              <a:spcBef>
                <a:spcPts val="0"/>
              </a:spcBef>
              <a:buClr>
                <a:schemeClr val="dk1"/>
              </a:buClr>
              <a:buSzPts val="1000"/>
              <a:buFont typeface="Helvetica Neue"/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318000" y="2032000"/>
            <a:ext cx="3568700" cy="3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3" type="body"/>
          </p:nvPr>
        </p:nvSpPr>
        <p:spPr>
          <a:xfrm>
            <a:off x="8232273" y="2032000"/>
            <a:ext cx="3568700" cy="3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ntent">
  <p:cSld name="Four Conte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93700" y="2213811"/>
            <a:ext cx="2595934" cy="37805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11" type="ftr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Clr>
                <a:schemeClr val="dk1"/>
              </a:buClr>
              <a:buSzPts val="1000"/>
              <a:buFont typeface="Helvetica Neue"/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r">
              <a:spcBef>
                <a:spcPts val="0"/>
              </a:spcBef>
              <a:buClr>
                <a:schemeClr val="dk1"/>
              </a:buClr>
              <a:buSzPts val="1000"/>
              <a:buFont typeface="Helvetica Neue"/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r">
              <a:spcBef>
                <a:spcPts val="0"/>
              </a:spcBef>
              <a:buClr>
                <a:schemeClr val="dk1"/>
              </a:buClr>
              <a:buSzPts val="1000"/>
              <a:buFont typeface="Helvetica Neue"/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r">
              <a:spcBef>
                <a:spcPts val="0"/>
              </a:spcBef>
              <a:buClr>
                <a:schemeClr val="dk1"/>
              </a:buClr>
              <a:buSzPts val="1000"/>
              <a:buFont typeface="Helvetica Neue"/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r">
              <a:spcBef>
                <a:spcPts val="0"/>
              </a:spcBef>
              <a:buClr>
                <a:schemeClr val="dk1"/>
              </a:buClr>
              <a:buSzPts val="1000"/>
              <a:buFont typeface="Helvetica Neue"/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r">
              <a:spcBef>
                <a:spcPts val="0"/>
              </a:spcBef>
              <a:buClr>
                <a:schemeClr val="dk1"/>
              </a:buClr>
              <a:buSzPts val="1000"/>
              <a:buFont typeface="Helvetica Neue"/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r">
              <a:spcBef>
                <a:spcPts val="0"/>
              </a:spcBef>
              <a:buClr>
                <a:schemeClr val="dk1"/>
              </a:buClr>
              <a:buSzPts val="1000"/>
              <a:buFont typeface="Helvetica Neue"/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r">
              <a:spcBef>
                <a:spcPts val="0"/>
              </a:spcBef>
              <a:buClr>
                <a:schemeClr val="dk1"/>
              </a:buClr>
              <a:buSzPts val="1000"/>
              <a:buFont typeface="Helvetica Neue"/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r">
              <a:spcBef>
                <a:spcPts val="0"/>
              </a:spcBef>
              <a:buClr>
                <a:schemeClr val="dk1"/>
              </a:buClr>
              <a:buSzPts val="1000"/>
              <a:buFont typeface="Helvetica Neue"/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sp>
        <p:nvSpPr>
          <p:cNvPr id="43" name="Google Shape;43;p7"/>
          <p:cNvSpPr txBox="1"/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2" type="body"/>
          </p:nvPr>
        </p:nvSpPr>
        <p:spPr>
          <a:xfrm>
            <a:off x="3334966" y="2213811"/>
            <a:ext cx="2595934" cy="37805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3" type="body"/>
          </p:nvPr>
        </p:nvSpPr>
        <p:spPr>
          <a:xfrm>
            <a:off x="6264413" y="2213811"/>
            <a:ext cx="2595934" cy="37805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4" type="body"/>
          </p:nvPr>
        </p:nvSpPr>
        <p:spPr>
          <a:xfrm>
            <a:off x="9205679" y="2213811"/>
            <a:ext cx="2595934" cy="37805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oter Only">
  <p:cSld name="Footer 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/>
          <p:nvPr>
            <p:ph idx="11" type="ftr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Clr>
                <a:schemeClr val="dk1"/>
              </a:buClr>
              <a:buSzPts val="1000"/>
              <a:buFont typeface="Helvetica Neue"/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r">
              <a:spcBef>
                <a:spcPts val="0"/>
              </a:spcBef>
              <a:buClr>
                <a:schemeClr val="dk1"/>
              </a:buClr>
              <a:buSzPts val="1000"/>
              <a:buFont typeface="Helvetica Neue"/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r">
              <a:spcBef>
                <a:spcPts val="0"/>
              </a:spcBef>
              <a:buClr>
                <a:schemeClr val="dk1"/>
              </a:buClr>
              <a:buSzPts val="1000"/>
              <a:buFont typeface="Helvetica Neue"/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r">
              <a:spcBef>
                <a:spcPts val="0"/>
              </a:spcBef>
              <a:buClr>
                <a:schemeClr val="dk1"/>
              </a:buClr>
              <a:buSzPts val="1000"/>
              <a:buFont typeface="Helvetica Neue"/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r">
              <a:spcBef>
                <a:spcPts val="0"/>
              </a:spcBef>
              <a:buClr>
                <a:schemeClr val="dk1"/>
              </a:buClr>
              <a:buSzPts val="1000"/>
              <a:buFont typeface="Helvetica Neue"/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r">
              <a:spcBef>
                <a:spcPts val="0"/>
              </a:spcBef>
              <a:buClr>
                <a:schemeClr val="dk1"/>
              </a:buClr>
              <a:buSzPts val="1000"/>
              <a:buFont typeface="Helvetica Neue"/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r">
              <a:spcBef>
                <a:spcPts val="0"/>
              </a:spcBef>
              <a:buClr>
                <a:schemeClr val="dk1"/>
              </a:buClr>
              <a:buSzPts val="1000"/>
              <a:buFont typeface="Helvetica Neue"/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r">
              <a:spcBef>
                <a:spcPts val="0"/>
              </a:spcBef>
              <a:buClr>
                <a:schemeClr val="dk1"/>
              </a:buClr>
              <a:buSzPts val="1000"/>
              <a:buFont typeface="Helvetica Neue"/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r">
              <a:spcBef>
                <a:spcPts val="0"/>
              </a:spcBef>
              <a:buClr>
                <a:schemeClr val="dk1"/>
              </a:buClr>
              <a:buSzPts val="1000"/>
              <a:buFont typeface="Helvetica Neue"/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Helvetica Neue"/>
              <a:buNone/>
              <a:defRPr b="0" i="0" sz="29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2" type="sldNum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Clr>
                <a:schemeClr val="dk1"/>
              </a:buClr>
              <a:buSzPts val="1000"/>
              <a:buFont typeface="Helvetica Neue"/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r">
              <a:spcBef>
                <a:spcPts val="0"/>
              </a:spcBef>
              <a:buClr>
                <a:schemeClr val="dk1"/>
              </a:buClr>
              <a:buSzPts val="1000"/>
              <a:buFont typeface="Helvetica Neue"/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r">
              <a:spcBef>
                <a:spcPts val="0"/>
              </a:spcBef>
              <a:buClr>
                <a:schemeClr val="dk1"/>
              </a:buClr>
              <a:buSzPts val="1000"/>
              <a:buFont typeface="Helvetica Neue"/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r">
              <a:spcBef>
                <a:spcPts val="0"/>
              </a:spcBef>
              <a:buClr>
                <a:schemeClr val="dk1"/>
              </a:buClr>
              <a:buSzPts val="1000"/>
              <a:buFont typeface="Helvetica Neue"/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r">
              <a:spcBef>
                <a:spcPts val="0"/>
              </a:spcBef>
              <a:buClr>
                <a:schemeClr val="dk1"/>
              </a:buClr>
              <a:buSzPts val="1000"/>
              <a:buFont typeface="Helvetica Neue"/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r">
              <a:spcBef>
                <a:spcPts val="0"/>
              </a:spcBef>
              <a:buClr>
                <a:schemeClr val="dk1"/>
              </a:buClr>
              <a:buSzPts val="1000"/>
              <a:buFont typeface="Helvetica Neue"/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r">
              <a:spcBef>
                <a:spcPts val="0"/>
              </a:spcBef>
              <a:buClr>
                <a:schemeClr val="dk1"/>
              </a:buClr>
              <a:buSzPts val="1000"/>
              <a:buFont typeface="Helvetica Neue"/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r">
              <a:spcBef>
                <a:spcPts val="0"/>
              </a:spcBef>
              <a:buClr>
                <a:schemeClr val="dk1"/>
              </a:buClr>
              <a:buSzPts val="1000"/>
              <a:buFont typeface="Helvetica Neue"/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r">
              <a:spcBef>
                <a:spcPts val="0"/>
              </a:spcBef>
              <a:buClr>
                <a:schemeClr val="dk1"/>
              </a:buClr>
              <a:buSzPts val="1000"/>
              <a:buFont typeface="Helvetica Neue"/>
              <a:buNone/>
              <a:defRPr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>
          <p15:clr>
            <a:srgbClr val="F26B43"/>
          </p15:clr>
        </p15:guide>
        <p15:guide id="2" pos="7680">
          <p15:clr>
            <a:srgbClr val="F26B43"/>
          </p15:clr>
        </p15:guide>
        <p15:guide id="3" pos="248">
          <p15:clr>
            <a:srgbClr val="F26B43"/>
          </p15:clr>
        </p15:guide>
        <p15:guide id="4" pos="1264">
          <p15:clr>
            <a:srgbClr val="F26B43"/>
          </p15:clr>
        </p15:guide>
        <p15:guide id="5" pos="1480">
          <p15:clr>
            <a:srgbClr val="F26B43"/>
          </p15:clr>
        </p15:guide>
        <p15:guide id="6" pos="2496">
          <p15:clr>
            <a:srgbClr val="F26B43"/>
          </p15:clr>
        </p15:guide>
        <p15:guide id="7" pos="2712">
          <p15:clr>
            <a:srgbClr val="F26B43"/>
          </p15:clr>
        </p15:guide>
        <p15:guide id="8" pos="3736">
          <p15:clr>
            <a:srgbClr val="F26B43"/>
          </p15:clr>
        </p15:guide>
        <p15:guide id="9" pos="3944">
          <p15:clr>
            <a:srgbClr val="F26B43"/>
          </p15:clr>
        </p15:guide>
        <p15:guide id="10" pos="4968">
          <p15:clr>
            <a:srgbClr val="F26B43"/>
          </p15:clr>
        </p15:guide>
        <p15:guide id="11" pos="5184">
          <p15:clr>
            <a:srgbClr val="F26B43"/>
          </p15:clr>
        </p15:guide>
        <p15:guide id="12" pos="6200">
          <p15:clr>
            <a:srgbClr val="F26B43"/>
          </p15:clr>
        </p15:guide>
        <p15:guide id="13" pos="6416">
          <p15:clr>
            <a:srgbClr val="F26B43"/>
          </p15:clr>
        </p15:guide>
        <p15:guide id="14" pos="7432">
          <p15:clr>
            <a:srgbClr val="F26B43"/>
          </p15:clr>
        </p15:guide>
        <p15:guide id="15" orient="horz">
          <p15:clr>
            <a:srgbClr val="F26B43"/>
          </p15:clr>
        </p15:guide>
        <p15:guide id="16" orient="horz" pos="248">
          <p15:clr>
            <a:srgbClr val="F26B43"/>
          </p15:clr>
        </p15:guide>
        <p15:guide id="17" orient="horz" pos="656">
          <p15:clr>
            <a:srgbClr val="F26B43"/>
          </p15:clr>
        </p15:guide>
        <p15:guide id="18" orient="horz" pos="872">
          <p15:clr>
            <a:srgbClr val="F26B43"/>
          </p15:clr>
        </p15:guide>
        <p15:guide id="19" orient="horz" pos="1280">
          <p15:clr>
            <a:srgbClr val="F26B43"/>
          </p15:clr>
        </p15:guide>
        <p15:guide id="20" orient="horz" pos="1496">
          <p15:clr>
            <a:srgbClr val="F26B43"/>
          </p15:clr>
        </p15:guide>
        <p15:guide id="21" orient="horz" pos="1904">
          <p15:clr>
            <a:srgbClr val="F26B43"/>
          </p15:clr>
        </p15:guide>
        <p15:guide id="22" orient="horz" pos="2120">
          <p15:clr>
            <a:srgbClr val="F26B43"/>
          </p15:clr>
        </p15:guide>
        <p15:guide id="23" orient="horz" pos="2528">
          <p15:clr>
            <a:srgbClr val="F26B43"/>
          </p15:clr>
        </p15:guide>
        <p15:guide id="24" orient="horz" pos="2744">
          <p15:clr>
            <a:srgbClr val="F26B43"/>
          </p15:clr>
        </p15:guide>
        <p15:guide id="25" orient="horz" pos="3152">
          <p15:clr>
            <a:srgbClr val="F26B43"/>
          </p15:clr>
        </p15:guide>
        <p15:guide id="26" orient="horz" pos="3368">
          <p15:clr>
            <a:srgbClr val="F26B43"/>
          </p15:clr>
        </p15:guide>
        <p15:guide id="27" orient="horz" pos="3776">
          <p15:clr>
            <a:srgbClr val="F26B43"/>
          </p15:clr>
        </p15:guide>
        <p15:guide id="28" orient="horz" pos="40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0"/>
          <p:cNvPicPr preferRelativeResize="0"/>
          <p:nvPr/>
        </p:nvPicPr>
        <p:blipFill rotWithShape="1">
          <a:blip r:embed="rId3">
            <a:alphaModFix/>
          </a:blip>
          <a:srcRect b="27" l="0" r="0" t="27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0"/>
          <p:cNvSpPr/>
          <p:nvPr/>
        </p:nvSpPr>
        <p:spPr>
          <a:xfrm>
            <a:off x="400050" y="457200"/>
            <a:ext cx="5334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264F"/>
              </a:buClr>
              <a:buSzPts val="1275"/>
              <a:buFont typeface="Helvetica Neue"/>
              <a:buNone/>
            </a:pPr>
            <a:r>
              <a:rPr b="1" lang="es-AR" sz="1275">
                <a:solidFill>
                  <a:srgbClr val="00264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PRIMER PARCIAL · PROGRAMACIÓN EFICIENTE</a:t>
            </a:r>
            <a:endParaRPr/>
          </a:p>
        </p:txBody>
      </p:sp>
      <p:sp>
        <p:nvSpPr>
          <p:cNvPr id="58" name="Google Shape;58;p10"/>
          <p:cNvSpPr/>
          <p:nvPr/>
        </p:nvSpPr>
        <p:spPr>
          <a:xfrm>
            <a:off x="400050" y="1571625"/>
            <a:ext cx="4389000" cy="20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75"/>
              <a:buFont typeface="Helvetica Neue"/>
              <a:buNone/>
            </a:pPr>
            <a:r>
              <a:rPr b="1" lang="es-AR" sz="4275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Detector eficiente de</a:t>
            </a:r>
            <a:endParaRPr/>
          </a:p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75"/>
              <a:buFont typeface="Helvetica Neue"/>
              <a:buNone/>
            </a:pPr>
            <a:r>
              <a:rPr b="1" lang="es-AR" sz="4275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transacciones sospechosas</a:t>
            </a:r>
            <a:endParaRPr/>
          </a:p>
        </p:txBody>
      </p:sp>
      <p:sp>
        <p:nvSpPr>
          <p:cNvPr id="59" name="Google Shape;59;p10"/>
          <p:cNvSpPr/>
          <p:nvPr/>
        </p:nvSpPr>
        <p:spPr>
          <a:xfrm>
            <a:off x="483950" y="4681925"/>
            <a:ext cx="3731100" cy="16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4515C"/>
              </a:buClr>
              <a:buSzPts val="1800"/>
              <a:buFont typeface="Helvetica Neue"/>
              <a:buNone/>
            </a:pPr>
            <a:r>
              <a:rPr b="0" lang="es-AR" sz="1800">
                <a:solidFill>
                  <a:srgbClr val="44515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Python · Opción 5 · Implementación y análisis de rendimiento</a:t>
            </a:r>
            <a:endParaRPr/>
          </a:p>
        </p:txBody>
      </p:sp>
      <p:sp>
        <p:nvSpPr>
          <p:cNvPr id="60" name="Google Shape;60;p10"/>
          <p:cNvSpPr/>
          <p:nvPr/>
        </p:nvSpPr>
        <p:spPr>
          <a:xfrm>
            <a:off x="9681800" y="6089500"/>
            <a:ext cx="211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4515C"/>
              </a:buClr>
              <a:buSzPts val="1800"/>
              <a:buFont typeface="Helvetica Neue"/>
              <a:buNone/>
            </a:pPr>
            <a:r>
              <a:rPr lang="es-AR" sz="1800">
                <a:solidFill>
                  <a:srgbClr val="44515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Chiavarino, Lucero.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393700" y="6279952"/>
            <a:ext cx="35688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rmAutofit fontScale="95500"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70808D"/>
              </a:buClr>
              <a:buSzPct val="100000"/>
              <a:buFont typeface="Helvetica Neue"/>
              <a:buNone/>
            </a:pPr>
            <a:r>
              <a:rPr b="0" lang="es-AR" sz="1050">
                <a:solidFill>
                  <a:srgbClr val="70808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Programación Eficiente · Parcial 1</a:t>
            </a:r>
            <a:endParaRPr/>
          </a:p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11279188" y="6278563"/>
            <a:ext cx="5190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rmAutofit fontScale="95530"/>
          </a:bodyPr>
          <a:lstStyle/>
          <a:p>
            <a:pPr indent="0" lvl="0" marL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70808D"/>
              </a:buClr>
              <a:buSzPct val="100000"/>
              <a:buFont typeface="Helvetica Neue"/>
              <a:buNone/>
            </a:pPr>
            <a:fld id="{00000000-1234-1234-1234-123412341234}" type="slidenum">
              <a:rPr b="0" lang="es-AR" sz="1050">
                <a:solidFill>
                  <a:srgbClr val="70808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/>
          </a:p>
        </p:txBody>
      </p:sp>
      <p:sp>
        <p:nvSpPr>
          <p:cNvPr id="68" name="Google Shape;68;p11"/>
          <p:cNvSpPr txBox="1"/>
          <p:nvPr>
            <p:ph type="title"/>
          </p:nvPr>
        </p:nvSpPr>
        <p:spPr>
          <a:xfrm>
            <a:off x="393700" y="344008"/>
            <a:ext cx="11404500" cy="10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25"/>
              <a:buFont typeface="Helvetica Neue"/>
              <a:buNone/>
            </a:pPr>
            <a:r>
              <a:rPr b="1" lang="es-AR"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 El problema</a:t>
            </a:r>
            <a:endParaRPr/>
          </a:p>
        </p:txBody>
      </p:sp>
      <p:sp>
        <p:nvSpPr>
          <p:cNvPr id="69" name="Google Shape;69;p11"/>
          <p:cNvSpPr txBox="1"/>
          <p:nvPr>
            <p:ph idx="4294967295" type="body"/>
          </p:nvPr>
        </p:nvSpPr>
        <p:spPr>
          <a:xfrm>
            <a:off x="393750" y="1553350"/>
            <a:ext cx="5537100" cy="16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38100" wrap="square" tIns="19050">
            <a:normAutofit/>
          </a:bodyPr>
          <a:lstStyle/>
          <a:p>
            <a:pPr indent="-228600" lvl="0" marL="22860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44515C"/>
              </a:buClr>
              <a:buSzPts val="1650"/>
              <a:buNone/>
            </a:pPr>
            <a:r>
              <a:rPr b="1" lang="es-AR"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Monto alto</a:t>
            </a:r>
            <a:endParaRPr/>
          </a:p>
          <a:p>
            <a:pPr indent="-228600" lvl="0" marL="228600" rtl="0" algn="l">
              <a:lnSpc>
                <a:spcPct val="106000"/>
              </a:lnSpc>
              <a:spcBef>
                <a:spcPts val="1000"/>
              </a:spcBef>
              <a:spcAft>
                <a:spcPts val="0"/>
              </a:spcAft>
              <a:buClr>
                <a:srgbClr val="44515C"/>
              </a:buClr>
              <a:buSzPts val="1650"/>
              <a:buNone/>
            </a:pPr>
            <a:r>
              <a:rPr lang="es-AR"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 monto supera el perfil habitual del usuario.</a:t>
            </a:r>
            <a:endParaRPr/>
          </a:p>
        </p:txBody>
      </p:sp>
      <p:sp>
        <p:nvSpPr>
          <p:cNvPr id="70" name="Google Shape;70;p11"/>
          <p:cNvSpPr txBox="1"/>
          <p:nvPr>
            <p:ph idx="4294967295" type="body"/>
          </p:nvPr>
        </p:nvSpPr>
        <p:spPr>
          <a:xfrm>
            <a:off x="6125068" y="1391500"/>
            <a:ext cx="5537100" cy="16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38100" wrap="square" tIns="19050">
            <a:normAutofit/>
          </a:bodyPr>
          <a:lstStyle/>
          <a:p>
            <a:pPr indent="-228600" lvl="0" marL="22860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44515C"/>
              </a:buClr>
              <a:buSzPts val="1650"/>
              <a:buNone/>
            </a:pPr>
            <a:r>
              <a:rPr b="1" lang="es-AR"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Ráfaga</a:t>
            </a:r>
            <a:endParaRPr/>
          </a:p>
          <a:p>
            <a:pPr indent="-228600" lvl="0" marL="228600" rtl="0" algn="l">
              <a:lnSpc>
                <a:spcPct val="106000"/>
              </a:lnSpc>
              <a:spcBef>
                <a:spcPts val="1000"/>
              </a:spcBef>
              <a:spcAft>
                <a:spcPts val="0"/>
              </a:spcAft>
              <a:buClr>
                <a:srgbClr val="44515C"/>
              </a:buClr>
              <a:buSzPts val="1650"/>
              <a:buNone/>
            </a:pPr>
            <a:r>
              <a:rPr lang="es-AR"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Cinco o más operaciones dentro de 60 segundos.</a:t>
            </a:r>
            <a:endParaRPr/>
          </a:p>
        </p:txBody>
      </p:sp>
      <p:sp>
        <p:nvSpPr>
          <p:cNvPr id="71" name="Google Shape;71;p11"/>
          <p:cNvSpPr/>
          <p:nvPr/>
        </p:nvSpPr>
        <p:spPr>
          <a:xfrm>
            <a:off x="393700" y="4016975"/>
            <a:ext cx="5537100" cy="16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38100" wrap="square" tIns="19050">
            <a:noAutofit/>
          </a:bodyPr>
          <a:lstStyle/>
          <a:p>
            <a:pPr indent="-228600" lvl="0" marL="22860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44515C"/>
              </a:buClr>
              <a:buSzPts val="1650"/>
              <a:buFont typeface="Arial"/>
              <a:buNone/>
            </a:pPr>
            <a:r>
              <a:rPr b="1" lang="es-AR"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Operación repetida</a:t>
            </a:r>
            <a:endParaRPr/>
          </a:p>
          <a:p>
            <a:pPr indent="-228600" lvl="0" marL="228600" marR="0" rtl="0" algn="l">
              <a:lnSpc>
                <a:spcPct val="106000"/>
              </a:lnSpc>
              <a:spcBef>
                <a:spcPts val="1000"/>
              </a:spcBef>
              <a:spcAft>
                <a:spcPts val="0"/>
              </a:spcAft>
              <a:buClr>
                <a:srgbClr val="44515C"/>
              </a:buClr>
              <a:buSzPts val="1650"/>
              <a:buFont typeface="Arial"/>
              <a:buNone/>
            </a:pPr>
            <a:r>
              <a:rPr lang="es-AR"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Tres compras iguales dentro de cinco minutos.</a:t>
            </a:r>
            <a:endParaRPr/>
          </a:p>
        </p:txBody>
      </p:sp>
      <p:sp>
        <p:nvSpPr>
          <p:cNvPr id="72" name="Google Shape;72;p11"/>
          <p:cNvSpPr/>
          <p:nvPr/>
        </p:nvSpPr>
        <p:spPr>
          <a:xfrm>
            <a:off x="6256618" y="4016975"/>
            <a:ext cx="5537100" cy="16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38100" wrap="square" tIns="19050">
            <a:noAutofit/>
          </a:bodyPr>
          <a:lstStyle/>
          <a:p>
            <a:pPr indent="-228600" lvl="0" marL="22860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44515C"/>
              </a:buClr>
              <a:buSzPts val="1650"/>
              <a:buFont typeface="Arial"/>
              <a:buNone/>
            </a:pPr>
            <a:r>
              <a:rPr b="1" lang="es-AR"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Ubicaciones simultáneas</a:t>
            </a:r>
            <a:endParaRPr/>
          </a:p>
          <a:p>
            <a:pPr indent="-228600" lvl="0" marL="228600" marR="0" rtl="0" algn="l">
              <a:lnSpc>
                <a:spcPct val="106000"/>
              </a:lnSpc>
              <a:spcBef>
                <a:spcPts val="1000"/>
              </a:spcBef>
              <a:spcAft>
                <a:spcPts val="0"/>
              </a:spcAft>
              <a:buClr>
                <a:srgbClr val="44515C"/>
              </a:buClr>
              <a:buSzPts val="1650"/>
              <a:buFont typeface="Arial"/>
              <a:buNone/>
            </a:pPr>
            <a:r>
              <a:rPr lang="es-AR"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Actividad cercana desde ciudades diferentes.</a:t>
            </a:r>
            <a:endParaRPr/>
          </a:p>
        </p:txBody>
      </p:sp>
      <p:pic>
        <p:nvPicPr>
          <p:cNvPr id="73" name="Google Shape;73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5750" y="2498850"/>
            <a:ext cx="1047500" cy="104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05850" y="2458563"/>
            <a:ext cx="1047500" cy="112808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78971" y="5189846"/>
            <a:ext cx="741050" cy="74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66050" y="5096825"/>
            <a:ext cx="927100" cy="92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rmAutofit fontScale="95497"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70808D"/>
              </a:buClr>
              <a:buSzPct val="100000"/>
              <a:buFont typeface="Helvetica Neue"/>
              <a:buNone/>
            </a:pPr>
            <a:r>
              <a:rPr b="0" lang="es-AR" sz="1050">
                <a:solidFill>
                  <a:srgbClr val="70808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Programación Eficiente · Parcial 1</a:t>
            </a:r>
            <a:endParaRPr/>
          </a:p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rmAutofit fontScale="95497"/>
          </a:bodyPr>
          <a:lstStyle/>
          <a:p>
            <a:pPr indent="0" lvl="0" marL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70808D"/>
              </a:buClr>
              <a:buSzPct val="100000"/>
              <a:buFont typeface="Helvetica Neue"/>
              <a:buNone/>
            </a:pPr>
            <a:fld id="{00000000-1234-1234-1234-123412341234}" type="slidenum">
              <a:rPr b="0" lang="es-AR" sz="1050">
                <a:solidFill>
                  <a:srgbClr val="70808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/>
          </a:p>
        </p:txBody>
      </p:sp>
      <p:sp>
        <p:nvSpPr>
          <p:cNvPr id="84" name="Google Shape;84;p12"/>
          <p:cNvSpPr txBox="1"/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25"/>
              <a:buFont typeface="Helvetica Neue"/>
              <a:buNone/>
            </a:pPr>
            <a:r>
              <a:rPr b="1" lang="es-AR"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2. Diseño inicial</a:t>
            </a:r>
            <a:endParaRPr/>
          </a:p>
        </p:txBody>
      </p:sp>
      <p:cxnSp>
        <p:nvCxnSpPr>
          <p:cNvPr id="85" name="Google Shape;85;p12"/>
          <p:cNvCxnSpPr>
            <a:stCxn id="86" idx="2"/>
          </p:cNvCxnSpPr>
          <p:nvPr/>
        </p:nvCxnSpPr>
        <p:spPr>
          <a:xfrm>
            <a:off x="337718" y="3373753"/>
            <a:ext cx="12245400" cy="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12"/>
          <p:cNvSpPr/>
          <p:nvPr/>
        </p:nvSpPr>
        <p:spPr>
          <a:xfrm>
            <a:off x="337718" y="3320203"/>
            <a:ext cx="107100" cy="107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2"/>
          <p:cNvSpPr/>
          <p:nvPr/>
        </p:nvSpPr>
        <p:spPr>
          <a:xfrm>
            <a:off x="4251750" y="3320203"/>
            <a:ext cx="107100" cy="107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2"/>
          <p:cNvSpPr/>
          <p:nvPr/>
        </p:nvSpPr>
        <p:spPr>
          <a:xfrm>
            <a:off x="8176050" y="3320203"/>
            <a:ext cx="107100" cy="107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2"/>
          <p:cNvSpPr/>
          <p:nvPr/>
        </p:nvSpPr>
        <p:spPr>
          <a:xfrm>
            <a:off x="393700" y="2843266"/>
            <a:ext cx="1612900" cy="2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1226"/>
              <a:buFont typeface="Arial"/>
              <a:buNone/>
            </a:pPr>
            <a:r>
              <a:rPr b="1" lang="es-AR" sz="1227">
                <a:solidFill>
                  <a:srgbClr val="3D8D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ENTRADA</a:t>
            </a:r>
            <a:endParaRPr/>
          </a:p>
        </p:txBody>
      </p:sp>
      <p:sp>
        <p:nvSpPr>
          <p:cNvPr id="90" name="Google Shape;90;p12"/>
          <p:cNvSpPr/>
          <p:nvPr/>
        </p:nvSpPr>
        <p:spPr>
          <a:xfrm>
            <a:off x="4294187" y="2843266"/>
            <a:ext cx="1612900" cy="2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1226"/>
              <a:buFont typeface="Arial"/>
              <a:buNone/>
            </a:pPr>
            <a:r>
              <a:rPr b="1" lang="es-AR" sz="1227">
                <a:solidFill>
                  <a:srgbClr val="3D8D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BASELINE</a:t>
            </a:r>
            <a:endParaRPr/>
          </a:p>
        </p:txBody>
      </p:sp>
      <p:sp>
        <p:nvSpPr>
          <p:cNvPr id="91" name="Google Shape;91;p12"/>
          <p:cNvSpPr/>
          <p:nvPr/>
        </p:nvSpPr>
        <p:spPr>
          <a:xfrm>
            <a:off x="8223249" y="2843266"/>
            <a:ext cx="1612900" cy="2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1226"/>
              <a:buFont typeface="Arial"/>
              <a:buNone/>
            </a:pPr>
            <a:r>
              <a:rPr b="1" lang="es-AR" sz="1227">
                <a:solidFill>
                  <a:srgbClr val="3D8D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SALIDA</a:t>
            </a:r>
            <a:endParaRPr/>
          </a:p>
        </p:txBody>
      </p:sp>
      <p:sp>
        <p:nvSpPr>
          <p:cNvPr id="92" name="Google Shape;92;p12"/>
          <p:cNvSpPr/>
          <p:nvPr/>
        </p:nvSpPr>
        <p:spPr>
          <a:xfrm>
            <a:off x="4317118" y="3822700"/>
            <a:ext cx="3156125" cy="1586256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38100" wrap="square" tIns="19050">
            <a:noAutofit/>
          </a:bodyPr>
          <a:lstStyle/>
          <a:p>
            <a:pPr indent="-228600" lvl="0" marL="22860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44515C"/>
              </a:buClr>
              <a:buSzPts val="1650"/>
              <a:buFont typeface="Arial"/>
              <a:buNone/>
            </a:pPr>
            <a:r>
              <a:rPr b="1" lang="es-AR"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Detección inicial</a:t>
            </a:r>
            <a:endParaRPr/>
          </a:p>
          <a:p>
            <a:pPr indent="-228600" lvl="0" marL="228600" marR="0" rtl="0" algn="l">
              <a:lnSpc>
                <a:spcPct val="106000"/>
              </a:lnSpc>
              <a:spcBef>
                <a:spcPts val="1000"/>
              </a:spcBef>
              <a:spcAft>
                <a:spcPts val="0"/>
              </a:spcAft>
              <a:buClr>
                <a:srgbClr val="44515C"/>
              </a:buClr>
              <a:buSzPts val="1650"/>
              <a:buFont typeface="Arial"/>
              <a:buNone/>
            </a:pPr>
            <a:r>
              <a:rPr lang="es-AR"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Burbuja y recorridos repetidos sobre el historial.</a:t>
            </a:r>
            <a:endParaRPr/>
          </a:p>
        </p:txBody>
      </p:sp>
      <p:sp>
        <p:nvSpPr>
          <p:cNvPr id="93" name="Google Shape;93;p12"/>
          <p:cNvSpPr/>
          <p:nvPr/>
        </p:nvSpPr>
        <p:spPr>
          <a:xfrm>
            <a:off x="399873" y="3822700"/>
            <a:ext cx="3156125" cy="1586256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38100" wrap="square" tIns="19050">
            <a:noAutofit/>
          </a:bodyPr>
          <a:lstStyle/>
          <a:p>
            <a:pPr indent="-228600" lvl="0" marL="22860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44515C"/>
              </a:buClr>
              <a:buSzPts val="1650"/>
              <a:buFont typeface="Arial"/>
              <a:buNone/>
            </a:pPr>
            <a:r>
              <a:rPr b="1" lang="es-AR"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Transacciones desordenadas</a:t>
            </a:r>
            <a:endParaRPr/>
          </a:p>
          <a:p>
            <a:pPr indent="-228600" lvl="0" marL="228600" marR="0" rtl="0" algn="l">
              <a:lnSpc>
                <a:spcPct val="106000"/>
              </a:lnSpc>
              <a:spcBef>
                <a:spcPts val="1000"/>
              </a:spcBef>
              <a:spcAft>
                <a:spcPts val="0"/>
              </a:spcAft>
              <a:buClr>
                <a:srgbClr val="44515C"/>
              </a:buClr>
              <a:buSzPts val="1650"/>
              <a:buFont typeface="Arial"/>
              <a:buNone/>
            </a:pPr>
            <a:r>
              <a:rPr lang="es-AR"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ID, usuario, tiempo, monto, comercio y ubicación.</a:t>
            </a:r>
            <a:endParaRPr/>
          </a:p>
        </p:txBody>
      </p:sp>
      <p:sp>
        <p:nvSpPr>
          <p:cNvPr id="94" name="Google Shape;94;p12"/>
          <p:cNvSpPr/>
          <p:nvPr/>
        </p:nvSpPr>
        <p:spPr>
          <a:xfrm>
            <a:off x="8177917" y="3822700"/>
            <a:ext cx="3156125" cy="1586256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38100" wrap="square" tIns="19050">
            <a:noAutofit/>
          </a:bodyPr>
          <a:lstStyle/>
          <a:p>
            <a:pPr indent="-228600" lvl="0" marL="22860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44515C"/>
              </a:buClr>
              <a:buSzPts val="1650"/>
              <a:buFont typeface="Arial"/>
              <a:buNone/>
            </a:pPr>
            <a:r>
              <a:rPr b="1" lang="es-AR"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Alertas ordenadas</a:t>
            </a:r>
            <a:endParaRPr/>
          </a:p>
          <a:p>
            <a:pPr indent="-228600" lvl="0" marL="228600" marR="0" rtl="0" algn="l">
              <a:lnSpc>
                <a:spcPct val="106000"/>
              </a:lnSpc>
              <a:spcBef>
                <a:spcPts val="1000"/>
              </a:spcBef>
              <a:spcAft>
                <a:spcPts val="0"/>
              </a:spcAft>
              <a:buClr>
                <a:srgbClr val="44515C"/>
              </a:buClr>
              <a:buSzPts val="1650"/>
              <a:buFont typeface="Arial"/>
              <a:buNone/>
            </a:pPr>
            <a:r>
              <a:rPr lang="es-AR"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Cuatro patrones y nueve alertas en el caso de prueba.</a:t>
            </a:r>
            <a:endParaRPr/>
          </a:p>
        </p:txBody>
      </p:sp>
      <p:pic>
        <p:nvPicPr>
          <p:cNvPr id="95" name="Google Shape;95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4187" y="1527700"/>
            <a:ext cx="1047500" cy="104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68375" y="1521025"/>
            <a:ext cx="1192725" cy="119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46137" y="1521025"/>
            <a:ext cx="1192725" cy="119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3"/>
          <p:cNvSpPr txBox="1"/>
          <p:nvPr>
            <p:ph idx="12" type="sldNum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sp>
        <p:nvSpPr>
          <p:cNvPr id="103" name="Google Shape;103;p13"/>
          <p:cNvSpPr txBox="1"/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marR="0" rtl="0" algn="l">
              <a:lnSpc>
                <a:spcPct val="106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s-AR" sz="3450">
                <a:solidFill>
                  <a:srgbClr val="44515C"/>
                </a:solidFill>
              </a:rPr>
              <a:t>Diseño Inicial</a:t>
            </a:r>
            <a:endParaRPr b="1" sz="3450">
              <a:solidFill>
                <a:srgbClr val="44515C"/>
              </a:solidFill>
            </a:endParaRPr>
          </a:p>
          <a:p>
            <a:pPr indent="-228600" lvl="0" marL="228600" marR="0" rtl="0" algn="l">
              <a:lnSpc>
                <a:spcPct val="106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650">
              <a:solidFill>
                <a:srgbClr val="44515C"/>
              </a:solidFill>
            </a:endParaRPr>
          </a:p>
        </p:txBody>
      </p:sp>
      <p:sp>
        <p:nvSpPr>
          <p:cNvPr id="104" name="Google Shape;104;p13"/>
          <p:cNvSpPr txBox="1"/>
          <p:nvPr>
            <p:ph idx="11" type="ftr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rmAutofit fontScale="95497"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70808D"/>
              </a:buClr>
              <a:buSzPct val="100000"/>
              <a:buFont typeface="Helvetica Neue"/>
              <a:buNone/>
            </a:pPr>
            <a:r>
              <a:rPr b="0" lang="es-AR" sz="1050">
                <a:solidFill>
                  <a:srgbClr val="70808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Programación Eficiente · Parcial 1</a:t>
            </a:r>
            <a:endParaRPr/>
          </a:p>
        </p:txBody>
      </p:sp>
      <p:sp>
        <p:nvSpPr>
          <p:cNvPr id="105" name="Google Shape;105;p13"/>
          <p:cNvSpPr txBox="1"/>
          <p:nvPr/>
        </p:nvSpPr>
        <p:spPr>
          <a:xfrm>
            <a:off x="393750" y="1307950"/>
            <a:ext cx="11404500" cy="41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228600" marR="0" rtl="0" algn="l">
              <a:lnSpc>
                <a:spcPct val="106000"/>
              </a:lnSpc>
              <a:spcBef>
                <a:spcPts val="1000"/>
              </a:spcBef>
              <a:spcAft>
                <a:spcPts val="0"/>
              </a:spcAft>
              <a:buClr>
                <a:srgbClr val="44515C"/>
              </a:buClr>
              <a:buSzPts val="1650"/>
              <a:buFont typeface="Arial"/>
              <a:buNone/>
            </a:pPr>
            <a:r>
              <a:rPr b="1" lang="es-AR" sz="1950">
                <a:solidFill>
                  <a:srgbClr val="44515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Arquitectura de componentes:</a:t>
            </a:r>
            <a:endParaRPr b="1" sz="1950">
              <a:solidFill>
                <a:srgbClr val="44515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2425" lvl="0" marL="457200" marR="0" rtl="0" algn="l">
              <a:lnSpc>
                <a:spcPct val="106000"/>
              </a:lnSpc>
              <a:spcBef>
                <a:spcPts val="1000"/>
              </a:spcBef>
              <a:spcAft>
                <a:spcPts val="0"/>
              </a:spcAft>
              <a:buClr>
                <a:srgbClr val="44515C"/>
              </a:buClr>
              <a:buSzPts val="1950"/>
              <a:buFont typeface="Helvetica Neue"/>
              <a:buChar char="●"/>
            </a:pPr>
            <a:r>
              <a:rPr lang="es-AR" sz="1950">
                <a:solidFill>
                  <a:srgbClr val="44515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modelos.py: Modelado formal del dominio (dataclasses con inmutabilidad y slots).</a:t>
            </a:r>
            <a:endParaRPr sz="1950">
              <a:solidFill>
                <a:srgbClr val="44515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2425" lvl="0" marL="45720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44515C"/>
              </a:buClr>
              <a:buSzPts val="1950"/>
              <a:buFont typeface="Helvetica Neue"/>
              <a:buChar char="●"/>
            </a:pPr>
            <a:r>
              <a:rPr lang="es-AR" sz="1950">
                <a:solidFill>
                  <a:srgbClr val="44515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generador.py: Generador de datos sintéticos pseudoaleatorios reproducibles (random.seed(42)).</a:t>
            </a:r>
            <a:endParaRPr sz="1950">
              <a:solidFill>
                <a:srgbClr val="44515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2425" lvl="0" marL="45720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44515C"/>
              </a:buClr>
              <a:buSzPts val="1950"/>
              <a:buFont typeface="Helvetica Neue"/>
              <a:buChar char="●"/>
            </a:pPr>
            <a:r>
              <a:rPr lang="es-AR" sz="1950">
                <a:solidFill>
                  <a:srgbClr val="44515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algoritmos_ordenamiento.py: Aislamiento de los algoritmos de ordenamiento.</a:t>
            </a:r>
            <a:endParaRPr sz="1950">
              <a:solidFill>
                <a:srgbClr val="44515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2425" lvl="0" marL="45720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44515C"/>
              </a:buClr>
              <a:buSzPts val="1950"/>
              <a:buFont typeface="Helvetica Neue"/>
              <a:buChar char="●"/>
            </a:pPr>
            <a:r>
              <a:rPr lang="es-AR" sz="1950">
                <a:solidFill>
                  <a:srgbClr val="44515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detectores.py: Diferentes estrategias de detección para permitir testing comparativo con las mismas firmas.</a:t>
            </a:r>
            <a:endParaRPr sz="1950">
              <a:solidFill>
                <a:srgbClr val="44515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2425" lvl="0" marL="45720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44515C"/>
              </a:buClr>
              <a:buSzPts val="1950"/>
              <a:buFont typeface="Helvetica Neue"/>
              <a:buChar char="●"/>
            </a:pPr>
            <a:r>
              <a:rPr lang="es-AR" sz="1950">
                <a:solidFill>
                  <a:srgbClr val="44515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medicion.py y perfilado.py: Infraestructura de benchmarking, profiling y métricas.</a:t>
            </a:r>
            <a:endParaRPr sz="1950">
              <a:solidFill>
                <a:srgbClr val="44515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EAEAE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6" name="Google Shape;10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100" y="3938852"/>
            <a:ext cx="3661525" cy="243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114" y="191314"/>
            <a:ext cx="10981775" cy="647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5"/>
          <p:cNvSpPr txBox="1"/>
          <p:nvPr>
            <p:ph idx="1" type="body"/>
          </p:nvPr>
        </p:nvSpPr>
        <p:spPr>
          <a:xfrm>
            <a:off x="393750" y="1384300"/>
            <a:ext cx="11404500" cy="297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52425" lvl="0" marL="457200" rtl="0" algn="l">
              <a:lnSpc>
                <a:spcPct val="106000"/>
              </a:lnSpc>
              <a:spcBef>
                <a:spcPts val="1000"/>
              </a:spcBef>
              <a:spcAft>
                <a:spcPts val="0"/>
              </a:spcAft>
              <a:buClr>
                <a:srgbClr val="44515C"/>
              </a:buClr>
              <a:buSzPts val="1950"/>
              <a:buChar char="●"/>
            </a:pPr>
            <a:r>
              <a:rPr lang="es-AR" sz="1950">
                <a:solidFill>
                  <a:srgbClr val="44515C"/>
                </a:solidFill>
              </a:rPr>
              <a:t>Aplica un enfoque directo y no estructurado (naive / brute-force).</a:t>
            </a:r>
            <a:endParaRPr sz="1950">
              <a:solidFill>
                <a:srgbClr val="44515C"/>
              </a:solidFill>
            </a:endParaRPr>
          </a:p>
          <a:p>
            <a:pPr indent="-352425" lvl="0" marL="45720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44515C"/>
              </a:buClr>
              <a:buSzPts val="1950"/>
              <a:buFont typeface="Helvetica Neue"/>
              <a:buChar char="●"/>
            </a:pPr>
            <a:r>
              <a:rPr lang="es-AR" sz="1950">
                <a:solidFill>
                  <a:srgbClr val="44515C"/>
                </a:solidFill>
              </a:rPr>
              <a:t>Ordena la lista global con Burbuja.</a:t>
            </a:r>
            <a:endParaRPr sz="1950">
              <a:solidFill>
                <a:srgbClr val="44515C"/>
              </a:solidFill>
            </a:endParaRPr>
          </a:p>
          <a:p>
            <a:pPr indent="-352425" lvl="0" marL="45720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44515C"/>
              </a:buClr>
              <a:buSzPts val="1950"/>
              <a:buFont typeface="Helvetica Neue"/>
              <a:buChar char="●"/>
            </a:pPr>
            <a:r>
              <a:rPr lang="es-AR" sz="1950">
                <a:solidFill>
                  <a:srgbClr val="44515C"/>
                </a:solidFill>
              </a:rPr>
              <a:t>Mantiene una lista plana acumulativa procesadas = [].</a:t>
            </a:r>
            <a:endParaRPr sz="1950">
              <a:solidFill>
                <a:srgbClr val="44515C"/>
              </a:solidFill>
            </a:endParaRPr>
          </a:p>
          <a:p>
            <a:pPr indent="-352425" lvl="0" marL="45720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44515C"/>
              </a:buClr>
              <a:buSzPts val="1950"/>
              <a:buFont typeface="Helvetica Neue"/>
              <a:buChar char="●"/>
            </a:pPr>
            <a:r>
              <a:rPr lang="es-AR" sz="1950">
                <a:solidFill>
                  <a:srgbClr val="44515C"/>
                </a:solidFill>
              </a:rPr>
              <a:t>En cada paso del bucle principal, ejecuta 4 filtrados lineales mediante list comprehensions recorriendo procesadas y ordenadas.</a:t>
            </a:r>
            <a:endParaRPr sz="1950">
              <a:solidFill>
                <a:srgbClr val="44515C"/>
              </a:solidFill>
            </a:endParaRPr>
          </a:p>
          <a:p>
            <a:pPr indent="-352425" lvl="0" marL="45720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44515C"/>
              </a:buClr>
              <a:buSzPts val="1950"/>
              <a:buFont typeface="Helvetica Neue"/>
              <a:buChar char="●"/>
            </a:pPr>
            <a:r>
              <a:rPr lang="es-AR" sz="1950">
                <a:solidFill>
                  <a:srgbClr val="44515C"/>
                </a:solidFill>
              </a:rPr>
              <a:t>Recalcula el perfil del usuario (media y varianza) en cada transacción sin reutilización.</a:t>
            </a:r>
            <a:endParaRPr sz="2700"/>
          </a:p>
        </p:txBody>
      </p:sp>
      <p:sp>
        <p:nvSpPr>
          <p:cNvPr id="118" name="Google Shape;118;p15"/>
          <p:cNvSpPr txBox="1"/>
          <p:nvPr>
            <p:ph idx="12" type="sldNum"/>
          </p:nvPr>
        </p:nvSpPr>
        <p:spPr>
          <a:xfrm>
            <a:off x="11279332" y="6279294"/>
            <a:ext cx="519000" cy="241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sp>
        <p:nvSpPr>
          <p:cNvPr id="119" name="Google Shape;119;p15"/>
          <p:cNvSpPr txBox="1"/>
          <p:nvPr>
            <p:ph type="title"/>
          </p:nvPr>
        </p:nvSpPr>
        <p:spPr>
          <a:xfrm>
            <a:off x="393700" y="344008"/>
            <a:ext cx="11404500" cy="104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marR="0" rtl="0" algn="l">
              <a:lnSpc>
                <a:spcPct val="106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s-AR" sz="3450">
                <a:solidFill>
                  <a:srgbClr val="44515C"/>
                </a:solidFill>
              </a:rPr>
              <a:t>Implementación Inicial (detectar_inicial):</a:t>
            </a:r>
            <a:endParaRPr b="1" sz="3450">
              <a:solidFill>
                <a:srgbClr val="44515C"/>
              </a:solidFill>
            </a:endParaRPr>
          </a:p>
        </p:txBody>
      </p:sp>
      <p:pic>
        <p:nvPicPr>
          <p:cNvPr id="120" name="Google Shape;12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5900" y="4013200"/>
            <a:ext cx="3760100" cy="2197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>
            <p:ph idx="11" type="ftr"/>
          </p:nvPr>
        </p:nvSpPr>
        <p:spPr>
          <a:xfrm>
            <a:off x="393700" y="6279952"/>
            <a:ext cx="35688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rm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70808D"/>
              </a:buClr>
              <a:buSzPts val="1050"/>
              <a:buFont typeface="Helvetica Neue"/>
              <a:buNone/>
            </a:pPr>
            <a:r>
              <a:rPr b="0" lang="es-AR" sz="1050">
                <a:solidFill>
                  <a:srgbClr val="70808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Programación Eficiente · Parcial 1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2581" y="68263"/>
            <a:ext cx="10626837" cy="672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 txBox="1"/>
          <p:nvPr>
            <p:ph idx="11" type="ftr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rmAutofit fontScale="95497"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70808D"/>
              </a:buClr>
              <a:buSzPct val="100000"/>
              <a:buFont typeface="Helvetica Neue"/>
              <a:buNone/>
            </a:pPr>
            <a:r>
              <a:rPr b="0" lang="es-AR" sz="1050">
                <a:solidFill>
                  <a:srgbClr val="70808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Programación Eficiente · Parcial 1</a:t>
            </a:r>
            <a:endParaRPr/>
          </a:p>
        </p:txBody>
      </p:sp>
      <p:sp>
        <p:nvSpPr>
          <p:cNvPr id="133" name="Google Shape;133;p17"/>
          <p:cNvSpPr txBox="1"/>
          <p:nvPr>
            <p:ph idx="12" type="sldNum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rmAutofit fontScale="95497"/>
          </a:bodyPr>
          <a:lstStyle/>
          <a:p>
            <a:pPr indent="0" lvl="0" marL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70808D"/>
              </a:buClr>
              <a:buSzPct val="100000"/>
              <a:buFont typeface="Helvetica Neue"/>
              <a:buNone/>
            </a:pPr>
            <a:fld id="{00000000-1234-1234-1234-123412341234}" type="slidenum">
              <a:rPr b="0" lang="es-AR" sz="1050">
                <a:solidFill>
                  <a:srgbClr val="70808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/>
          </a:p>
        </p:txBody>
      </p:sp>
      <p:sp>
        <p:nvSpPr>
          <p:cNvPr id="134" name="Google Shape;134;p17"/>
          <p:cNvSpPr txBox="1"/>
          <p:nvPr>
            <p:ph type="title"/>
          </p:nvPr>
        </p:nvSpPr>
        <p:spPr>
          <a:xfrm>
            <a:off x="393700" y="344488"/>
            <a:ext cx="11404600" cy="6442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25"/>
              <a:buFont typeface="Helvetica Neue"/>
              <a:buNone/>
            </a:pPr>
            <a:r>
              <a:rPr b="1" lang="es-AR"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3. Complejidad algorítmica</a:t>
            </a:r>
            <a:endParaRPr/>
          </a:p>
        </p:txBody>
      </p:sp>
      <p:sp>
        <p:nvSpPr>
          <p:cNvPr id="135" name="Google Shape;135;p17"/>
          <p:cNvSpPr/>
          <p:nvPr/>
        </p:nvSpPr>
        <p:spPr>
          <a:xfrm>
            <a:off x="393688" y="2536378"/>
            <a:ext cx="5533800" cy="13209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t/>
            </a: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690923" y="2785262"/>
            <a:ext cx="4986900" cy="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38100" wrap="square" tIns="19050">
            <a:noAutofit/>
          </a:bodyPr>
          <a:lstStyle/>
          <a:p>
            <a:pPr indent="-228600" lvl="0" marL="22860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44515C"/>
              </a:buClr>
              <a:buSzPts val="1650"/>
              <a:buFont typeface="Arial"/>
              <a:buNone/>
            </a:pPr>
            <a:r>
              <a:rPr b="1" lang="es-AR"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Burbuja</a:t>
            </a:r>
            <a:endParaRPr/>
          </a:p>
          <a:p>
            <a:pPr indent="-228600" lvl="0" marL="228600" marR="0" rtl="0" algn="l">
              <a:lnSpc>
                <a:spcPct val="106000"/>
              </a:lnSpc>
              <a:spcBef>
                <a:spcPts val="1000"/>
              </a:spcBef>
              <a:spcAft>
                <a:spcPts val="0"/>
              </a:spcAft>
              <a:buClr>
                <a:srgbClr val="44515C"/>
              </a:buClr>
              <a:buSzPts val="1650"/>
              <a:buFont typeface="Arial"/>
              <a:buNone/>
            </a:pPr>
            <a:r>
              <a:rPr lang="es-AR"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Compara vecinos en pasadas sucesivas.</a:t>
            </a:r>
            <a:endParaRPr/>
          </a:p>
        </p:txBody>
      </p:sp>
      <p:sp>
        <p:nvSpPr>
          <p:cNvPr id="137" name="Google Shape;137;p17"/>
          <p:cNvSpPr/>
          <p:nvPr/>
        </p:nvSpPr>
        <p:spPr>
          <a:xfrm>
            <a:off x="690923" y="4025907"/>
            <a:ext cx="5236800" cy="9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-228600" lvl="0" marL="2286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67576"/>
              </a:buClr>
              <a:buSzPts val="1517"/>
              <a:buFont typeface="Arial"/>
              <a:buChar char="•"/>
            </a:pPr>
            <a:r>
              <a:rPr b="1" lang="es-AR" sz="1517">
                <a:solidFill>
                  <a:srgbClr val="F675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(n−1)+(n−2)+…+1 = n(n−1)/2</a:t>
            </a:r>
            <a:endParaRPr/>
          </a:p>
          <a:p>
            <a:pPr indent="-228600" lvl="0" marL="228600" marR="0" rtl="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Clr>
                <a:srgbClr val="F67576"/>
              </a:buClr>
              <a:buSzPts val="1517"/>
              <a:buFont typeface="Arial"/>
              <a:buChar char="•"/>
            </a:pPr>
            <a:r>
              <a:rPr b="1" lang="es-AR" sz="1517">
                <a:solidFill>
                  <a:srgbClr val="F675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O(n²)</a:t>
            </a:r>
            <a:endParaRPr/>
          </a:p>
          <a:p>
            <a:pPr indent="-228600" lvl="0" marL="228600" marR="0" rtl="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Clr>
                <a:srgbClr val="F67576"/>
              </a:buClr>
              <a:buSzPts val="1517"/>
              <a:buFont typeface="Arial"/>
              <a:buChar char="•"/>
            </a:pPr>
            <a:r>
              <a:rPr b="1" lang="es-AR" sz="1517">
                <a:solidFill>
                  <a:srgbClr val="F675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Duplicar n puede cuadruplicar el trabajo.</a:t>
            </a:r>
            <a:endParaRPr/>
          </a:p>
        </p:txBody>
      </p:sp>
      <p:sp>
        <p:nvSpPr>
          <p:cNvPr id="138" name="Google Shape;138;p17"/>
          <p:cNvSpPr/>
          <p:nvPr/>
        </p:nvSpPr>
        <p:spPr>
          <a:xfrm>
            <a:off x="6257460" y="2536378"/>
            <a:ext cx="5533800" cy="13209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t/>
            </a: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6554695" y="2785262"/>
            <a:ext cx="4986900" cy="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38100" wrap="square" tIns="19050">
            <a:noAutofit/>
          </a:bodyPr>
          <a:lstStyle/>
          <a:p>
            <a:pPr indent="-228600" lvl="0" marL="22860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44515C"/>
              </a:buClr>
              <a:buSzPts val="1650"/>
              <a:buFont typeface="Arial"/>
              <a:buNone/>
            </a:pPr>
            <a:r>
              <a:rPr b="1" lang="es-AR"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Quicksort</a:t>
            </a:r>
            <a:endParaRPr/>
          </a:p>
          <a:p>
            <a:pPr indent="-228600" lvl="0" marL="228600" marR="0" rtl="0" algn="l">
              <a:lnSpc>
                <a:spcPct val="106000"/>
              </a:lnSpc>
              <a:spcBef>
                <a:spcPts val="1000"/>
              </a:spcBef>
              <a:spcAft>
                <a:spcPts val="0"/>
              </a:spcAft>
              <a:buClr>
                <a:srgbClr val="44515C"/>
              </a:buClr>
              <a:buSzPts val="1650"/>
              <a:buFont typeface="Arial"/>
              <a:buNone/>
            </a:pPr>
            <a:r>
              <a:rPr lang="es-AR"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Divide la lista alrededor de un pivote.</a:t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6554695" y="4025907"/>
            <a:ext cx="5236800" cy="9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-228600" lvl="0" marL="2286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0A98A"/>
              </a:buClr>
              <a:buSzPts val="1517"/>
              <a:buFont typeface="Arial"/>
              <a:buChar char="•"/>
            </a:pPr>
            <a:r>
              <a:rPr b="1" lang="es-AR" sz="1517">
                <a:solidFill>
                  <a:srgbClr val="20A98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 elementos × log₂(n) niveles</a:t>
            </a:r>
            <a:endParaRPr/>
          </a:p>
          <a:p>
            <a:pPr indent="-228600" lvl="0" marL="228600" marR="0" rtl="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Clr>
                <a:srgbClr val="20A98A"/>
              </a:buClr>
              <a:buSzPts val="1517"/>
              <a:buFont typeface="Arial"/>
              <a:buChar char="•"/>
            </a:pPr>
            <a:r>
              <a:rPr b="1" lang="es-AR" sz="1517">
                <a:solidFill>
                  <a:srgbClr val="20A98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O(n log n) promedio</a:t>
            </a:r>
            <a:endParaRPr/>
          </a:p>
          <a:p>
            <a:pPr indent="-228600" lvl="0" marL="228600" marR="0" rtl="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Clr>
                <a:srgbClr val="20A98A"/>
              </a:buClr>
              <a:buSzPts val="1517"/>
              <a:buFont typeface="Arial"/>
              <a:buChar char="•"/>
            </a:pPr>
            <a:r>
              <a:rPr b="1" lang="es-AR" sz="1517">
                <a:solidFill>
                  <a:srgbClr val="20A98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 ordenamiento domina la versión optimizada.</a:t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400939" y="1157513"/>
            <a:ext cx="11404599" cy="1629229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38100" wrap="square" tIns="1905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44515C"/>
              </a:buClr>
              <a:buSzPts val="1650"/>
              <a:buFont typeface="Arial"/>
              <a:buNone/>
            </a:pPr>
            <a:r>
              <a:rPr b="1" lang="es-AR"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Operaciones críticas</a:t>
            </a:r>
            <a:endParaRPr/>
          </a:p>
          <a:p>
            <a:pPr indent="0" lvl="0" marL="0" marR="0" rtl="0" algn="l">
              <a:lnSpc>
                <a:spcPct val="106000"/>
              </a:lnSpc>
              <a:spcBef>
                <a:spcPts val="1800"/>
              </a:spcBef>
              <a:spcAft>
                <a:spcPts val="0"/>
              </a:spcAft>
              <a:buClr>
                <a:srgbClr val="44515C"/>
              </a:buClr>
              <a:buSzPts val="1650"/>
              <a:buFont typeface="Arial"/>
              <a:buNone/>
            </a:pPr>
            <a:r>
              <a:rPr lang="es-AR"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Ordenar por tiempo y consultar el historial. La baseline repite búsquedas lineales dentro del ciclo principal.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8"/>
          <p:cNvPicPr preferRelativeResize="0"/>
          <p:nvPr/>
        </p:nvPicPr>
        <p:blipFill rotWithShape="1">
          <a:blip r:embed="rId3">
            <a:alphaModFix/>
          </a:blip>
          <a:srcRect b="0" l="0" r="5766" t="0"/>
          <a:stretch/>
        </p:blipFill>
        <p:spPr>
          <a:xfrm>
            <a:off x="120650" y="68263"/>
            <a:ext cx="11950700" cy="672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9"/>
          <p:cNvSpPr txBox="1"/>
          <p:nvPr>
            <p:ph idx="11" type="ftr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rmAutofit fontScale="95497"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70808D"/>
              </a:buClr>
              <a:buSzPct val="100000"/>
              <a:buFont typeface="Helvetica Neue"/>
              <a:buNone/>
            </a:pPr>
            <a:r>
              <a:rPr b="0" lang="es-AR" sz="1050">
                <a:solidFill>
                  <a:srgbClr val="70808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Programación Eficiente · Parcial 1</a:t>
            </a:r>
            <a:endParaRPr/>
          </a:p>
        </p:txBody>
      </p:sp>
      <p:sp>
        <p:nvSpPr>
          <p:cNvPr id="153" name="Google Shape;153;p19"/>
          <p:cNvSpPr txBox="1"/>
          <p:nvPr>
            <p:ph idx="12" type="sldNum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rmAutofit fontScale="95497"/>
          </a:bodyPr>
          <a:lstStyle/>
          <a:p>
            <a:pPr indent="0" lvl="0" marL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70808D"/>
              </a:buClr>
              <a:buSzPct val="100000"/>
              <a:buFont typeface="Helvetica Neue"/>
              <a:buNone/>
            </a:pPr>
            <a:fld id="{00000000-1234-1234-1234-123412341234}" type="slidenum">
              <a:rPr b="0" lang="es-AR" sz="1050">
                <a:solidFill>
                  <a:srgbClr val="70808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/>
          </a:p>
        </p:txBody>
      </p:sp>
      <p:sp>
        <p:nvSpPr>
          <p:cNvPr id="154" name="Google Shape;154;p19"/>
          <p:cNvSpPr txBox="1"/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25"/>
              <a:buFont typeface="Helvetica Neue"/>
              <a:buNone/>
            </a:pPr>
            <a:r>
              <a:rPr b="1" lang="es-AR"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4. Algoritmos y estructuras de datos</a:t>
            </a:r>
            <a:endParaRPr/>
          </a:p>
        </p:txBody>
      </p:sp>
      <p:sp>
        <p:nvSpPr>
          <p:cNvPr id="155" name="Google Shape;155;p19"/>
          <p:cNvSpPr/>
          <p:nvPr/>
        </p:nvSpPr>
        <p:spPr>
          <a:xfrm>
            <a:off x="6264412" y="2369856"/>
            <a:ext cx="5533887" cy="1638300"/>
          </a:xfrm>
          <a:prstGeom prst="roundRect">
            <a:avLst>
              <a:gd fmla="val 3585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t/>
            </a: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6561647" y="2664788"/>
            <a:ext cx="4986886" cy="1048436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38100" wrap="square" tIns="19050">
            <a:noAutofit/>
          </a:bodyPr>
          <a:lstStyle/>
          <a:p>
            <a:pPr indent="-228600" lvl="0" marL="22860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44515C"/>
              </a:buClr>
              <a:buSzPts val="1650"/>
              <a:buFont typeface="Arial"/>
              <a:buNone/>
            </a:pPr>
            <a:r>
              <a:rPr b="1" lang="es-AR"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Quicksort · O(n log n)</a:t>
            </a:r>
            <a:endParaRPr/>
          </a:p>
          <a:p>
            <a:pPr indent="-228600" lvl="0" marL="228600" marR="0" rtl="0" algn="l">
              <a:lnSpc>
                <a:spcPct val="106000"/>
              </a:lnSpc>
              <a:spcBef>
                <a:spcPts val="1000"/>
              </a:spcBef>
              <a:spcAft>
                <a:spcPts val="0"/>
              </a:spcAft>
              <a:buClr>
                <a:srgbClr val="44515C"/>
              </a:buClr>
              <a:buSzPts val="1650"/>
              <a:buFont typeface="Arial"/>
              <a:buNone/>
            </a:pPr>
            <a:r>
              <a:rPr lang="es-AR"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Ordena por tiempo antes de aplicar las reglas.</a:t>
            </a:r>
            <a:endParaRPr/>
          </a:p>
        </p:txBody>
      </p:sp>
      <p:sp>
        <p:nvSpPr>
          <p:cNvPr id="157" name="Google Shape;157;p19"/>
          <p:cNvSpPr/>
          <p:nvPr/>
        </p:nvSpPr>
        <p:spPr>
          <a:xfrm>
            <a:off x="409043" y="2369856"/>
            <a:ext cx="5533887" cy="1638300"/>
          </a:xfrm>
          <a:prstGeom prst="roundRect">
            <a:avLst>
              <a:gd fmla="val 3585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t/>
            </a: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8" name="Google Shape;158;p19"/>
          <p:cNvSpPr/>
          <p:nvPr/>
        </p:nvSpPr>
        <p:spPr>
          <a:xfrm>
            <a:off x="706278" y="2664788"/>
            <a:ext cx="4986886" cy="1048436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38100" wrap="square" tIns="19050">
            <a:noAutofit/>
          </a:bodyPr>
          <a:lstStyle/>
          <a:p>
            <a:pPr indent="-228600" lvl="0" marL="22860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44515C"/>
              </a:buClr>
              <a:buSzPts val="1650"/>
              <a:buFont typeface="Arial"/>
              <a:buNone/>
            </a:pPr>
            <a:r>
              <a:rPr b="1" lang="es-AR"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Burbuja · O(n²)</a:t>
            </a:r>
            <a:endParaRPr/>
          </a:p>
          <a:p>
            <a:pPr indent="-228600" lvl="0" marL="228600" marR="0" rtl="0" algn="l">
              <a:lnSpc>
                <a:spcPct val="106000"/>
              </a:lnSpc>
              <a:spcBef>
                <a:spcPts val="1000"/>
              </a:spcBef>
              <a:spcAft>
                <a:spcPts val="0"/>
              </a:spcAft>
              <a:buClr>
                <a:srgbClr val="44515C"/>
              </a:buClr>
              <a:buSzPts val="1650"/>
              <a:buFont typeface="Arial"/>
              <a:buNone/>
            </a:pPr>
            <a:r>
              <a:rPr lang="es-AR"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Simple y útil como baseline, pero escala mal.</a:t>
            </a:r>
            <a:endParaRPr/>
          </a:p>
        </p:txBody>
      </p:sp>
      <p:sp>
        <p:nvSpPr>
          <p:cNvPr id="159" name="Google Shape;159;p19"/>
          <p:cNvSpPr/>
          <p:nvPr/>
        </p:nvSpPr>
        <p:spPr>
          <a:xfrm>
            <a:off x="6264412" y="4370106"/>
            <a:ext cx="5533887" cy="1638300"/>
          </a:xfrm>
          <a:prstGeom prst="roundRect">
            <a:avLst>
              <a:gd fmla="val 3585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t/>
            </a: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6561647" y="4665038"/>
            <a:ext cx="4986886" cy="1048436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38100" wrap="square" tIns="19050">
            <a:noAutofit/>
          </a:bodyPr>
          <a:lstStyle/>
          <a:p>
            <a:pPr indent="-228600" lvl="0" marL="22860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44515C"/>
              </a:buClr>
              <a:buSzPts val="1650"/>
              <a:buFont typeface="Arial"/>
              <a:buNone/>
            </a:pPr>
            <a:r>
              <a:rPr b="1" lang="es-AR"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deque + list</a:t>
            </a:r>
            <a:endParaRPr/>
          </a:p>
          <a:p>
            <a:pPr indent="-228600" lvl="0" marL="228600" marR="0" rtl="0" algn="l">
              <a:lnSpc>
                <a:spcPct val="106000"/>
              </a:lnSpc>
              <a:spcBef>
                <a:spcPts val="1000"/>
              </a:spcBef>
              <a:spcAft>
                <a:spcPts val="0"/>
              </a:spcAft>
              <a:buClr>
                <a:srgbClr val="44515C"/>
              </a:buClr>
              <a:buSzPts val="1650"/>
              <a:buFont typeface="Arial"/>
              <a:buNone/>
            </a:pPr>
            <a:r>
              <a:rPr lang="es-AR"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 cola quita el elemento más antiguo en O(1).</a:t>
            </a:r>
            <a:endParaRPr/>
          </a:p>
        </p:txBody>
      </p:sp>
      <p:sp>
        <p:nvSpPr>
          <p:cNvPr id="161" name="Google Shape;161;p19"/>
          <p:cNvSpPr/>
          <p:nvPr/>
        </p:nvSpPr>
        <p:spPr>
          <a:xfrm>
            <a:off x="409043" y="4370106"/>
            <a:ext cx="5533887" cy="1638300"/>
          </a:xfrm>
          <a:prstGeom prst="roundRect">
            <a:avLst>
              <a:gd fmla="val 3585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t/>
            </a: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2" name="Google Shape;162;p19"/>
          <p:cNvSpPr/>
          <p:nvPr/>
        </p:nvSpPr>
        <p:spPr>
          <a:xfrm>
            <a:off x="706278" y="4665038"/>
            <a:ext cx="4986886" cy="1048436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38100" wrap="square" tIns="19050">
            <a:noAutofit/>
          </a:bodyPr>
          <a:lstStyle/>
          <a:p>
            <a:pPr indent="-228600" lvl="0" marL="22860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44515C"/>
              </a:buClr>
              <a:buSzPts val="1650"/>
              <a:buFont typeface="Arial"/>
              <a:buNone/>
            </a:pPr>
            <a:r>
              <a:rPr b="1" lang="es-AR"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dict + set · O(1) promedio</a:t>
            </a:r>
            <a:endParaRPr/>
          </a:p>
          <a:p>
            <a:pPr indent="-228600" lvl="0" marL="228600" marR="0" rtl="0" algn="l">
              <a:lnSpc>
                <a:spcPct val="106000"/>
              </a:lnSpc>
              <a:spcBef>
                <a:spcPts val="1000"/>
              </a:spcBef>
              <a:spcAft>
                <a:spcPts val="0"/>
              </a:spcAft>
              <a:buClr>
                <a:srgbClr val="44515C"/>
              </a:buClr>
              <a:buSzPts val="1650"/>
              <a:buFont typeface="Arial"/>
              <a:buNone/>
            </a:pPr>
            <a:r>
              <a:rPr lang="es-AR"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Agrupan usuarios, cuentan datos y evitan duplicados.</a:t>
            </a:r>
            <a:endParaRPr/>
          </a:p>
        </p:txBody>
      </p:sp>
      <p:sp>
        <p:nvSpPr>
          <p:cNvPr id="163" name="Google Shape;163;p19"/>
          <p:cNvSpPr/>
          <p:nvPr/>
        </p:nvSpPr>
        <p:spPr>
          <a:xfrm>
            <a:off x="400939" y="1057501"/>
            <a:ext cx="11404599" cy="101225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4515C"/>
              </a:buClr>
              <a:buSzPts val="1725"/>
              <a:buFont typeface="Arial"/>
              <a:buNone/>
            </a:pPr>
            <a:r>
              <a:rPr b="0" lang="es-AR" sz="1725">
                <a:solidFill>
                  <a:srgbClr val="44515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Quicksort reemplaza a Burbuja. Diccionarios y colas evitan recorridos y desplazamientos innecesarios.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3568" y="68263"/>
            <a:ext cx="9144864" cy="672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1"/>
          <p:cNvSpPr txBox="1"/>
          <p:nvPr>
            <p:ph idx="11" type="ftr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rmAutofit fontScale="95497"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70808D"/>
              </a:buClr>
              <a:buSzPct val="100000"/>
              <a:buFont typeface="Helvetica Neue"/>
              <a:buNone/>
            </a:pPr>
            <a:r>
              <a:rPr b="0" lang="es-AR" sz="1050">
                <a:solidFill>
                  <a:srgbClr val="70808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Programación Eficiente · Parcial 1</a:t>
            </a:r>
            <a:endParaRPr/>
          </a:p>
        </p:txBody>
      </p:sp>
      <p:sp>
        <p:nvSpPr>
          <p:cNvPr id="175" name="Google Shape;175;p21"/>
          <p:cNvSpPr txBox="1"/>
          <p:nvPr>
            <p:ph idx="12" type="sldNum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rmAutofit fontScale="95497"/>
          </a:bodyPr>
          <a:lstStyle/>
          <a:p>
            <a:pPr indent="0" lvl="0" marL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70808D"/>
              </a:buClr>
              <a:buSzPct val="100000"/>
              <a:buFont typeface="Helvetica Neue"/>
              <a:buNone/>
            </a:pPr>
            <a:fld id="{00000000-1234-1234-1234-123412341234}" type="slidenum">
              <a:rPr b="0" lang="es-AR" sz="1050">
                <a:solidFill>
                  <a:srgbClr val="70808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/>
          </a:p>
        </p:txBody>
      </p:sp>
      <p:sp>
        <p:nvSpPr>
          <p:cNvPr id="176" name="Google Shape;176;p21"/>
          <p:cNvSpPr txBox="1"/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25"/>
              <a:buFont typeface="Helvetica Neue"/>
              <a:buNone/>
            </a:pPr>
            <a:r>
              <a:rPr b="1" lang="es-AR"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5. Memoización y caching</a:t>
            </a:r>
            <a:endParaRPr/>
          </a:p>
        </p:txBody>
      </p:sp>
      <p:sp>
        <p:nvSpPr>
          <p:cNvPr id="177" name="Google Shape;177;p21"/>
          <p:cNvSpPr txBox="1"/>
          <p:nvPr>
            <p:ph idx="4294967295" type="body"/>
          </p:nvPr>
        </p:nvSpPr>
        <p:spPr>
          <a:xfrm>
            <a:off x="393700" y="1722438"/>
            <a:ext cx="5537200" cy="865187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38100" wrap="square" tIns="19050">
            <a:normAutofit/>
          </a:bodyPr>
          <a:lstStyle/>
          <a:p>
            <a:pPr indent="-228600" lvl="0" marL="228600" rtl="0" algn="l">
              <a:lnSpc>
                <a:spcPct val="106000"/>
              </a:lnSpc>
              <a:spcBef>
                <a:spcPts val="1000"/>
              </a:spcBef>
              <a:spcAft>
                <a:spcPts val="0"/>
              </a:spcAft>
              <a:buClr>
                <a:srgbClr val="44515C"/>
              </a:buClr>
              <a:buSzPts val="1650"/>
              <a:buNone/>
            </a:pPr>
            <a:r>
              <a:rPr b="1" lang="es-AR"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Perfil por usuario</a:t>
            </a:r>
            <a:endParaRPr/>
          </a:p>
          <a:p>
            <a:pPr indent="-228600" lvl="0" marL="228600" rtl="0" algn="l">
              <a:lnSpc>
                <a:spcPct val="106000"/>
              </a:lnSpc>
              <a:spcBef>
                <a:spcPts val="1000"/>
              </a:spcBef>
              <a:spcAft>
                <a:spcPts val="0"/>
              </a:spcAft>
              <a:buClr>
                <a:srgbClr val="44515C"/>
              </a:buClr>
              <a:buSzPts val="1650"/>
              <a:buNone/>
            </a:pPr>
            <a:r>
              <a:rPr lang="es-AR"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Promedio, desviación y límite de monto alto.</a:t>
            </a:r>
            <a:endParaRPr/>
          </a:p>
        </p:txBody>
      </p:sp>
      <p:sp>
        <p:nvSpPr>
          <p:cNvPr id="178" name="Google Shape;178;p21"/>
          <p:cNvSpPr/>
          <p:nvPr/>
        </p:nvSpPr>
        <p:spPr>
          <a:xfrm>
            <a:off x="7886700" y="2990317"/>
            <a:ext cx="3911600" cy="54875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264F"/>
              </a:buClr>
              <a:buSzPts val="1650"/>
              <a:buFont typeface="Arial"/>
              <a:buNone/>
            </a:pPr>
            <a:r>
              <a:rPr b="1" lang="es-AR" sz="1650">
                <a:solidFill>
                  <a:srgbClr val="00264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101 cálculos reales</a:t>
            </a:r>
            <a:endParaRPr/>
          </a:p>
        </p:txBody>
      </p:sp>
      <p:sp>
        <p:nvSpPr>
          <p:cNvPr id="179" name="Google Shape;179;p21"/>
          <p:cNvSpPr/>
          <p:nvPr/>
        </p:nvSpPr>
        <p:spPr>
          <a:xfrm>
            <a:off x="7507725" y="3015150"/>
            <a:ext cx="212551" cy="212470"/>
          </a:xfrm>
          <a:custGeom>
            <a:rect b="b" l="l" r="r" t="t"/>
            <a:pathLst>
              <a:path extrusionOk="0" h="21600" w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t/>
            </a: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0" name="Google Shape;180;p21"/>
          <p:cNvSpPr/>
          <p:nvPr/>
        </p:nvSpPr>
        <p:spPr>
          <a:xfrm>
            <a:off x="393700" y="2990316"/>
            <a:ext cx="5537200" cy="2884636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4515C"/>
              </a:buClr>
              <a:buSzPts val="1725"/>
              <a:buFont typeface="Arial"/>
              <a:buNone/>
            </a:pPr>
            <a:r>
              <a:rPr b="0" i="0" lang="es-AR" sz="1725" u="none" cap="none">
                <a:solidFill>
                  <a:srgbClr val="44515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Memoización: reutiliza el resultado del cálculo para el mismo usuario.</a:t>
            </a:r>
            <a:endParaRPr/>
          </a:p>
          <a:p>
            <a:pPr indent="0" lvl="0" marL="0" marR="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25"/>
              <a:buFont typeface="Arial"/>
              <a:buNone/>
            </a:pPr>
            <a:r>
              <a:t/>
            </a:r>
            <a:endParaRPr b="0" i="0" sz="1725" u="none" cap="none">
              <a:solidFill>
                <a:srgbClr val="44515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  <a:buClr>
                <a:srgbClr val="44515C"/>
              </a:buClr>
              <a:buSzPts val="1725"/>
              <a:buFont typeface="Arial"/>
              <a:buNone/>
            </a:pPr>
            <a:r>
              <a:rPr b="0" i="0" lang="es-AR" sz="1725" u="none" cap="none">
                <a:solidFill>
                  <a:srgbClr val="44515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Caching: agrega una capacidad máxima de 1.024 perfiles y una política de invalidación. Al cargar datos nuevos aumenta la versión y ejecuta cache_clear().</a:t>
            </a:r>
            <a:endParaRPr/>
          </a:p>
        </p:txBody>
      </p:sp>
      <p:sp>
        <p:nvSpPr>
          <p:cNvPr id="181" name="Google Shape;181;p21"/>
          <p:cNvSpPr/>
          <p:nvPr/>
        </p:nvSpPr>
        <p:spPr>
          <a:xfrm>
            <a:off x="7886700" y="3599916"/>
            <a:ext cx="3911600" cy="54875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264F"/>
              </a:buClr>
              <a:buSzPts val="1650"/>
              <a:buFont typeface="Arial"/>
              <a:buNone/>
            </a:pPr>
            <a:r>
              <a:rPr b="1" lang="es-AR" sz="1650">
                <a:solidFill>
                  <a:srgbClr val="00264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4.899 reutilizaciones</a:t>
            </a:r>
            <a:endParaRPr/>
          </a:p>
        </p:txBody>
      </p:sp>
      <p:sp>
        <p:nvSpPr>
          <p:cNvPr id="182" name="Google Shape;182;p21"/>
          <p:cNvSpPr/>
          <p:nvPr/>
        </p:nvSpPr>
        <p:spPr>
          <a:xfrm>
            <a:off x="7507725" y="3624749"/>
            <a:ext cx="212551" cy="212470"/>
          </a:xfrm>
          <a:custGeom>
            <a:rect b="b" l="l" r="r" t="t"/>
            <a:pathLst>
              <a:path extrusionOk="0" h="21600" w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t/>
            </a: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3" name="Google Shape;183;p21"/>
          <p:cNvSpPr/>
          <p:nvPr/>
        </p:nvSpPr>
        <p:spPr>
          <a:xfrm>
            <a:off x="7886700" y="4214765"/>
            <a:ext cx="3911600" cy="54875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264F"/>
              </a:buClr>
              <a:buSzPts val="1650"/>
              <a:buFont typeface="Arial"/>
              <a:buNone/>
            </a:pPr>
            <a:r>
              <a:rPr b="1" lang="es-AR" sz="1650">
                <a:solidFill>
                  <a:srgbClr val="00264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Clave: usuario + versión</a:t>
            </a:r>
            <a:endParaRPr/>
          </a:p>
        </p:txBody>
      </p:sp>
      <p:sp>
        <p:nvSpPr>
          <p:cNvPr id="184" name="Google Shape;184;p21"/>
          <p:cNvSpPr/>
          <p:nvPr/>
        </p:nvSpPr>
        <p:spPr>
          <a:xfrm>
            <a:off x="7507725" y="4239598"/>
            <a:ext cx="212551" cy="212470"/>
          </a:xfrm>
          <a:custGeom>
            <a:rect b="b" l="l" r="r" t="t"/>
            <a:pathLst>
              <a:path extrusionOk="0" h="21600" w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t/>
            </a: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5" name="Google Shape;185;p21"/>
          <p:cNvSpPr/>
          <p:nvPr/>
        </p:nvSpPr>
        <p:spPr>
          <a:xfrm>
            <a:off x="7886700" y="4824364"/>
            <a:ext cx="3911600" cy="54875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264F"/>
              </a:buClr>
              <a:buSzPts val="1650"/>
              <a:buFont typeface="Arial"/>
              <a:buNone/>
            </a:pPr>
            <a:r>
              <a:rPr b="1" lang="es-AR" sz="1650">
                <a:solidFill>
                  <a:srgbClr val="00264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cache_clear() con datos nuevos</a:t>
            </a:r>
            <a:endParaRPr/>
          </a:p>
        </p:txBody>
      </p:sp>
      <p:sp>
        <p:nvSpPr>
          <p:cNvPr id="186" name="Google Shape;186;p21"/>
          <p:cNvSpPr/>
          <p:nvPr/>
        </p:nvSpPr>
        <p:spPr>
          <a:xfrm>
            <a:off x="7507725" y="4849197"/>
            <a:ext cx="212551" cy="212470"/>
          </a:xfrm>
          <a:custGeom>
            <a:rect b="b" l="l" r="r" t="t"/>
            <a:pathLst>
              <a:path extrusionOk="0" h="21600" w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t/>
            </a: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7886700" y="5446664"/>
            <a:ext cx="3911600" cy="54875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264F"/>
              </a:buClr>
              <a:buSzPts val="1650"/>
              <a:buFont typeface="Arial"/>
              <a:buNone/>
            </a:pPr>
            <a:r>
              <a:rPr b="1" lang="es-AR" sz="1650">
                <a:solidFill>
                  <a:srgbClr val="00264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Sin perfiles obsoletos</a:t>
            </a:r>
            <a:endParaRPr/>
          </a:p>
        </p:txBody>
      </p:sp>
      <p:sp>
        <p:nvSpPr>
          <p:cNvPr id="188" name="Google Shape;188;p21"/>
          <p:cNvSpPr/>
          <p:nvPr/>
        </p:nvSpPr>
        <p:spPr>
          <a:xfrm>
            <a:off x="7507725" y="5471497"/>
            <a:ext cx="212551" cy="212470"/>
          </a:xfrm>
          <a:custGeom>
            <a:rect b="b" l="l" r="r" t="t"/>
            <a:pathLst>
              <a:path extrusionOk="0" h="21600" w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t/>
            </a: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0408" y="68263"/>
            <a:ext cx="9671184" cy="672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3"/>
          <p:cNvSpPr txBox="1"/>
          <p:nvPr>
            <p:ph idx="11" type="ftr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rmAutofit fontScale="95497"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70808D"/>
              </a:buClr>
              <a:buSzPct val="100000"/>
              <a:buFont typeface="Helvetica Neue"/>
              <a:buNone/>
            </a:pPr>
            <a:r>
              <a:rPr b="0" lang="es-AR" sz="1050">
                <a:solidFill>
                  <a:srgbClr val="70808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Programación Eficiente · Parcial 1</a:t>
            </a:r>
            <a:endParaRPr/>
          </a:p>
        </p:txBody>
      </p:sp>
      <p:sp>
        <p:nvSpPr>
          <p:cNvPr id="200" name="Google Shape;200;p23"/>
          <p:cNvSpPr txBox="1"/>
          <p:nvPr>
            <p:ph idx="12" type="sldNum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rmAutofit fontScale="95497"/>
          </a:bodyPr>
          <a:lstStyle/>
          <a:p>
            <a:pPr indent="0" lvl="0" marL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70808D"/>
              </a:buClr>
              <a:buSzPct val="100000"/>
              <a:buFont typeface="Helvetica Neue"/>
              <a:buNone/>
            </a:pPr>
            <a:fld id="{00000000-1234-1234-1234-123412341234}" type="slidenum">
              <a:rPr b="0" lang="es-AR" sz="1050">
                <a:solidFill>
                  <a:srgbClr val="70808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/>
          </a:p>
        </p:txBody>
      </p:sp>
      <p:sp>
        <p:nvSpPr>
          <p:cNvPr id="201" name="Google Shape;201;p23"/>
          <p:cNvSpPr txBox="1"/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25"/>
              <a:buFont typeface="Helvetica Neue"/>
              <a:buNone/>
            </a:pPr>
            <a:r>
              <a:rPr b="1" lang="es-AR"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6. Concurrencia y paralelismo</a:t>
            </a:r>
            <a:endParaRPr/>
          </a:p>
        </p:txBody>
      </p:sp>
      <p:cxnSp>
        <p:nvCxnSpPr>
          <p:cNvPr id="202" name="Google Shape;202;p23"/>
          <p:cNvCxnSpPr>
            <a:stCxn id="203" idx="2"/>
          </p:cNvCxnSpPr>
          <p:nvPr/>
        </p:nvCxnSpPr>
        <p:spPr>
          <a:xfrm>
            <a:off x="337718" y="5341621"/>
            <a:ext cx="12245400" cy="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3" name="Google Shape;203;p23"/>
          <p:cNvSpPr/>
          <p:nvPr/>
        </p:nvSpPr>
        <p:spPr>
          <a:xfrm>
            <a:off x="337718" y="5288071"/>
            <a:ext cx="107100" cy="107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3"/>
          <p:cNvSpPr/>
          <p:nvPr/>
        </p:nvSpPr>
        <p:spPr>
          <a:xfrm>
            <a:off x="4251750" y="5288071"/>
            <a:ext cx="107100" cy="107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3"/>
          <p:cNvSpPr/>
          <p:nvPr/>
        </p:nvSpPr>
        <p:spPr>
          <a:xfrm>
            <a:off x="8176050" y="5288071"/>
            <a:ext cx="107100" cy="107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3"/>
          <p:cNvSpPr/>
          <p:nvPr/>
        </p:nvSpPr>
        <p:spPr>
          <a:xfrm>
            <a:off x="393700" y="1401762"/>
            <a:ext cx="3568700" cy="3619500"/>
          </a:xfrm>
          <a:prstGeom prst="roundRect">
            <a:avLst>
              <a:gd fmla="val 3585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t/>
            </a: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7" name="Google Shape;207;p23"/>
          <p:cNvSpPr/>
          <p:nvPr/>
        </p:nvSpPr>
        <p:spPr>
          <a:xfrm>
            <a:off x="703381" y="1806797"/>
            <a:ext cx="2949339" cy="2566766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38100" wrap="square" tIns="19050">
            <a:noAutofit/>
          </a:bodyPr>
          <a:lstStyle/>
          <a:p>
            <a:pPr indent="-228600" lvl="0" marL="22860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44515C"/>
              </a:buClr>
              <a:buSzPts val="1650"/>
              <a:buFont typeface="Arial"/>
              <a:buNone/>
            </a:pPr>
            <a:r>
              <a:rPr b="1" lang="es-AR"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Separación</a:t>
            </a:r>
            <a:endParaRPr/>
          </a:p>
          <a:p>
            <a:pPr indent="-228600" lvl="0" marL="228600" marR="0" rtl="0" algn="l">
              <a:lnSpc>
                <a:spcPct val="106000"/>
              </a:lnSpc>
              <a:spcBef>
                <a:spcPts val="1000"/>
              </a:spcBef>
              <a:spcAft>
                <a:spcPts val="0"/>
              </a:spcAft>
              <a:buClr>
                <a:srgbClr val="44515C"/>
              </a:buClr>
              <a:buSzPts val="1650"/>
              <a:buFont typeface="Arial"/>
              <a:buNone/>
            </a:pPr>
            <a:r>
              <a:rPr lang="es-AR"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 agrupan usuarios. Cada lote puede analizarse sin depender de los demás.</a:t>
            </a:r>
            <a:endParaRPr/>
          </a:p>
        </p:txBody>
      </p:sp>
      <p:sp>
        <p:nvSpPr>
          <p:cNvPr id="208" name="Google Shape;208;p23"/>
          <p:cNvSpPr/>
          <p:nvPr/>
        </p:nvSpPr>
        <p:spPr>
          <a:xfrm>
            <a:off x="4308475" y="1401762"/>
            <a:ext cx="3568700" cy="3619500"/>
          </a:xfrm>
          <a:prstGeom prst="roundRect">
            <a:avLst>
              <a:gd fmla="val 3585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t/>
            </a: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9" name="Google Shape;209;p23"/>
          <p:cNvSpPr/>
          <p:nvPr/>
        </p:nvSpPr>
        <p:spPr>
          <a:xfrm>
            <a:off x="4618156" y="1806797"/>
            <a:ext cx="2949339" cy="2566766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38100" wrap="square" tIns="19050">
            <a:noAutofit/>
          </a:bodyPr>
          <a:lstStyle/>
          <a:p>
            <a:pPr indent="-228600" lvl="0" marL="22860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44515C"/>
              </a:buClr>
              <a:buSzPts val="1650"/>
              <a:buFont typeface="Arial"/>
              <a:buNone/>
            </a:pPr>
            <a:r>
              <a:rPr b="1" lang="es-AR"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ProcessPoolExecutor</a:t>
            </a:r>
            <a:endParaRPr/>
          </a:p>
          <a:p>
            <a:pPr indent="-228600" lvl="0" marL="228600" marR="0" rtl="0" algn="l">
              <a:lnSpc>
                <a:spcPct val="106000"/>
              </a:lnSpc>
              <a:spcBef>
                <a:spcPts val="1000"/>
              </a:spcBef>
              <a:spcAft>
                <a:spcPts val="0"/>
              </a:spcAft>
              <a:buClr>
                <a:srgbClr val="44515C"/>
              </a:buClr>
              <a:buSzPts val="1650"/>
              <a:buFont typeface="Arial"/>
              <a:buNone/>
            </a:pPr>
            <a:r>
              <a:rPr lang="es-AR"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Usa procesos para trabajo de CPU y evita compartir estado mutable.</a:t>
            </a:r>
            <a:endParaRPr/>
          </a:p>
        </p:txBody>
      </p:sp>
      <p:sp>
        <p:nvSpPr>
          <p:cNvPr id="210" name="Google Shape;210;p23"/>
          <p:cNvSpPr/>
          <p:nvPr/>
        </p:nvSpPr>
        <p:spPr>
          <a:xfrm>
            <a:off x="8237538" y="1401762"/>
            <a:ext cx="3568700" cy="3619500"/>
          </a:xfrm>
          <a:prstGeom prst="roundRect">
            <a:avLst>
              <a:gd fmla="val 3585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t/>
            </a: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1" name="Google Shape;211;p23"/>
          <p:cNvSpPr/>
          <p:nvPr/>
        </p:nvSpPr>
        <p:spPr>
          <a:xfrm>
            <a:off x="8547219" y="1806797"/>
            <a:ext cx="2949339" cy="2566766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38100" wrap="square" tIns="19050">
            <a:noAutofit/>
          </a:bodyPr>
          <a:lstStyle/>
          <a:p>
            <a:pPr indent="-228600" lvl="0" marL="22860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44515C"/>
              </a:buClr>
              <a:buSzPts val="1650"/>
              <a:buFont typeface="Arial"/>
              <a:buNone/>
            </a:pPr>
            <a:r>
              <a:rPr b="1" lang="es-AR"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Resultado medido</a:t>
            </a:r>
            <a:endParaRPr/>
          </a:p>
          <a:p>
            <a:pPr indent="-228600" lvl="0" marL="228600" marR="0" rtl="0" algn="l">
              <a:lnSpc>
                <a:spcPct val="106000"/>
              </a:lnSpc>
              <a:spcBef>
                <a:spcPts val="1000"/>
              </a:spcBef>
              <a:spcAft>
                <a:spcPts val="0"/>
              </a:spcAft>
              <a:buClr>
                <a:srgbClr val="44515C"/>
              </a:buClr>
              <a:buSzPts val="1650"/>
              <a:buFont typeface="Arial"/>
              <a:buNone/>
            </a:pPr>
            <a:r>
              <a:rPr lang="es-AR"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Dos procesos tardaron 0,0797 s. El overhead superó el beneficio.</a:t>
            </a:r>
            <a:endParaRPr/>
          </a:p>
        </p:txBody>
      </p:sp>
      <p:sp>
        <p:nvSpPr>
          <p:cNvPr id="212" name="Google Shape;212;p23"/>
          <p:cNvSpPr/>
          <p:nvPr/>
        </p:nvSpPr>
        <p:spPr>
          <a:xfrm>
            <a:off x="4251750" y="5602406"/>
            <a:ext cx="2595934" cy="391993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1200"/>
              <a:buFont typeface="Arial"/>
              <a:buNone/>
            </a:pPr>
            <a:r>
              <a:rPr b="1" lang="es-AR" sz="1200">
                <a:solidFill>
                  <a:srgbClr val="3D8D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PROCESOS</a:t>
            </a:r>
            <a:endParaRPr sz="16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3" name="Google Shape;213;p23"/>
          <p:cNvSpPr/>
          <p:nvPr/>
        </p:nvSpPr>
        <p:spPr>
          <a:xfrm>
            <a:off x="390950" y="5602406"/>
            <a:ext cx="2595934" cy="391993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1200"/>
              <a:buFont typeface="Arial"/>
              <a:buNone/>
            </a:pPr>
            <a:r>
              <a:rPr b="1" lang="es-AR" sz="1200">
                <a:solidFill>
                  <a:srgbClr val="3D8D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GRUPOS</a:t>
            </a:r>
            <a:endParaRPr sz="16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4" name="Google Shape;214;p23"/>
          <p:cNvSpPr/>
          <p:nvPr/>
        </p:nvSpPr>
        <p:spPr>
          <a:xfrm>
            <a:off x="8225439" y="5602406"/>
            <a:ext cx="2595934" cy="391993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1200"/>
              <a:buFont typeface="Arial"/>
              <a:buNone/>
            </a:pPr>
            <a:r>
              <a:rPr b="1" lang="es-AR" sz="1200">
                <a:solidFill>
                  <a:srgbClr val="3D8D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COMBINAR</a:t>
            </a:r>
            <a:endParaRPr sz="16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4"/>
          <p:cNvPicPr preferRelativeResize="0"/>
          <p:nvPr/>
        </p:nvPicPr>
        <p:blipFill rotWithShape="1">
          <a:blip r:embed="rId3">
            <a:alphaModFix/>
          </a:blip>
          <a:srcRect b="1" l="0" r="8879" t="0"/>
          <a:stretch/>
        </p:blipFill>
        <p:spPr>
          <a:xfrm>
            <a:off x="120650" y="68263"/>
            <a:ext cx="11950700" cy="672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5"/>
          <p:cNvSpPr txBox="1"/>
          <p:nvPr>
            <p:ph idx="11" type="ftr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rmAutofit fontScale="95497"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70808D"/>
              </a:buClr>
              <a:buSzPct val="100000"/>
              <a:buFont typeface="Helvetica Neue"/>
              <a:buNone/>
            </a:pPr>
            <a:r>
              <a:rPr b="0" lang="es-AR" sz="1050">
                <a:solidFill>
                  <a:srgbClr val="70808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Programación Eficiente · Parcial 1</a:t>
            </a:r>
            <a:endParaRPr/>
          </a:p>
        </p:txBody>
      </p:sp>
      <p:sp>
        <p:nvSpPr>
          <p:cNvPr id="226" name="Google Shape;226;p25"/>
          <p:cNvSpPr txBox="1"/>
          <p:nvPr>
            <p:ph idx="12" type="sldNum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rmAutofit fontScale="95497"/>
          </a:bodyPr>
          <a:lstStyle/>
          <a:p>
            <a:pPr indent="0" lvl="0" marL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70808D"/>
              </a:buClr>
              <a:buSzPct val="100000"/>
              <a:buFont typeface="Helvetica Neue"/>
              <a:buNone/>
            </a:pPr>
            <a:fld id="{00000000-1234-1234-1234-123412341234}" type="slidenum">
              <a:rPr b="0" lang="es-AR" sz="1050">
                <a:solidFill>
                  <a:srgbClr val="70808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/>
          </a:p>
        </p:txBody>
      </p:sp>
      <p:sp>
        <p:nvSpPr>
          <p:cNvPr id="227" name="Google Shape;227;p25"/>
          <p:cNvSpPr txBox="1"/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25"/>
              <a:buFont typeface="Helvetica Neue"/>
              <a:buNone/>
            </a:pPr>
            <a:r>
              <a:rPr b="1" lang="es-AR"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7. Perfilado</a:t>
            </a:r>
            <a:endParaRPr/>
          </a:p>
        </p:txBody>
      </p:sp>
      <p:sp>
        <p:nvSpPr>
          <p:cNvPr id="228" name="Google Shape;228;p25"/>
          <p:cNvSpPr/>
          <p:nvPr/>
        </p:nvSpPr>
        <p:spPr>
          <a:xfrm>
            <a:off x="6264412" y="2369856"/>
            <a:ext cx="5533887" cy="1638300"/>
          </a:xfrm>
          <a:prstGeom prst="roundRect">
            <a:avLst>
              <a:gd fmla="val 3585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t/>
            </a: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9" name="Google Shape;229;p25"/>
          <p:cNvSpPr/>
          <p:nvPr/>
        </p:nvSpPr>
        <p:spPr>
          <a:xfrm>
            <a:off x="6561647" y="2664788"/>
            <a:ext cx="4986886" cy="1048436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38100" wrap="square" tIns="19050">
            <a:noAutofit/>
          </a:bodyPr>
          <a:lstStyle/>
          <a:p>
            <a:pPr indent="-228600" lvl="0" marL="22860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44515C"/>
              </a:buClr>
              <a:buSzPts val="1650"/>
              <a:buFont typeface="Arial"/>
              <a:buNone/>
            </a:pPr>
            <a:r>
              <a:rPr b="1" lang="es-AR"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Cambio aplicado</a:t>
            </a:r>
            <a:endParaRPr/>
          </a:p>
          <a:p>
            <a:pPr indent="-228600" lvl="0" marL="228600" marR="0" rtl="0" algn="l">
              <a:lnSpc>
                <a:spcPct val="106000"/>
              </a:lnSpc>
              <a:spcBef>
                <a:spcPts val="1000"/>
              </a:spcBef>
              <a:spcAft>
                <a:spcPts val="0"/>
              </a:spcAft>
              <a:buClr>
                <a:srgbClr val="44515C"/>
              </a:buClr>
              <a:buSzPts val="1650"/>
              <a:buFont typeface="Arial"/>
              <a:buNone/>
            </a:pPr>
            <a:r>
              <a:rPr lang="es-AR"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Quicksort, ventanas deslizantes y caché.</a:t>
            </a:r>
            <a:endParaRPr/>
          </a:p>
        </p:txBody>
      </p:sp>
      <p:sp>
        <p:nvSpPr>
          <p:cNvPr id="230" name="Google Shape;230;p25"/>
          <p:cNvSpPr/>
          <p:nvPr/>
        </p:nvSpPr>
        <p:spPr>
          <a:xfrm>
            <a:off x="6264413" y="393700"/>
            <a:ext cx="5533887" cy="1638300"/>
          </a:xfrm>
          <a:prstGeom prst="roundRect">
            <a:avLst>
              <a:gd fmla="val 3585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t/>
            </a: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1" name="Google Shape;231;p25"/>
          <p:cNvSpPr/>
          <p:nvPr/>
        </p:nvSpPr>
        <p:spPr>
          <a:xfrm>
            <a:off x="6561648" y="688632"/>
            <a:ext cx="4986886" cy="1048436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38100" wrap="square" tIns="19050">
            <a:noAutofit/>
          </a:bodyPr>
          <a:lstStyle/>
          <a:p>
            <a:pPr indent="-228600" lvl="0" marL="22860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44515C"/>
              </a:buClr>
              <a:buSzPts val="1650"/>
              <a:buFont typeface="Arial"/>
              <a:buNone/>
            </a:pPr>
            <a:r>
              <a:rPr b="1" lang="es-AR"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Cuello de botella</a:t>
            </a:r>
            <a:endParaRPr/>
          </a:p>
          <a:p>
            <a:pPr indent="-228600" lvl="0" marL="228600" marR="0" rtl="0" algn="l">
              <a:lnSpc>
                <a:spcPct val="106000"/>
              </a:lnSpc>
              <a:spcBef>
                <a:spcPts val="1000"/>
              </a:spcBef>
              <a:spcAft>
                <a:spcPts val="0"/>
              </a:spcAft>
              <a:buClr>
                <a:srgbClr val="44515C"/>
              </a:buClr>
              <a:buSzPts val="1650"/>
              <a:buFont typeface="Arial"/>
              <a:buNone/>
            </a:pPr>
            <a:r>
              <a:rPr lang="es-AR"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Burbuja acumuló 0,411 s.</a:t>
            </a:r>
            <a:endParaRPr/>
          </a:p>
        </p:txBody>
      </p:sp>
      <p:sp>
        <p:nvSpPr>
          <p:cNvPr id="232" name="Google Shape;232;p25"/>
          <p:cNvSpPr/>
          <p:nvPr/>
        </p:nvSpPr>
        <p:spPr>
          <a:xfrm>
            <a:off x="6264412" y="4381536"/>
            <a:ext cx="5533887" cy="1638300"/>
          </a:xfrm>
          <a:prstGeom prst="roundRect">
            <a:avLst>
              <a:gd fmla="val 3585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t/>
            </a: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3" name="Google Shape;233;p25"/>
          <p:cNvSpPr/>
          <p:nvPr/>
        </p:nvSpPr>
        <p:spPr>
          <a:xfrm>
            <a:off x="6561647" y="4676468"/>
            <a:ext cx="4986886" cy="1048436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38100" wrap="square" tIns="19050">
            <a:noAutofit/>
          </a:bodyPr>
          <a:lstStyle/>
          <a:p>
            <a:pPr indent="-228600" lvl="0" marL="22860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44515C"/>
              </a:buClr>
              <a:buSzPts val="1650"/>
              <a:buFont typeface="Arial"/>
              <a:buNone/>
            </a:pPr>
            <a:r>
              <a:rPr b="1" lang="es-AR"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Impacto</a:t>
            </a:r>
            <a:endParaRPr/>
          </a:p>
          <a:p>
            <a:pPr indent="-228600" lvl="0" marL="228600" marR="0" rtl="0" algn="l">
              <a:lnSpc>
                <a:spcPct val="106000"/>
              </a:lnSpc>
              <a:spcBef>
                <a:spcPts val="1000"/>
              </a:spcBef>
              <a:spcAft>
                <a:spcPts val="0"/>
              </a:spcAft>
              <a:buClr>
                <a:srgbClr val="44515C"/>
              </a:buClr>
              <a:buSzPts val="1650"/>
              <a:buFont typeface="Arial"/>
              <a:buNone/>
            </a:pPr>
            <a:r>
              <a:rPr lang="es-AR" sz="1650">
                <a:solidFill>
                  <a:srgbClr val="44515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cProfile: 0,809 s frente a 0,013 s.</a:t>
            </a:r>
            <a:endParaRPr/>
          </a:p>
        </p:txBody>
      </p:sp>
      <p:pic>
        <p:nvPicPr>
          <p:cNvPr id="234" name="Google Shape;23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9575" y="1381125"/>
            <a:ext cx="5143500" cy="447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650" y="471202"/>
            <a:ext cx="11950700" cy="59155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7"/>
          <p:cNvSpPr txBox="1"/>
          <p:nvPr>
            <p:ph idx="11" type="ftr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rmAutofit fontScale="95497"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70808D"/>
              </a:buClr>
              <a:buSzPct val="100000"/>
              <a:buFont typeface="Helvetica Neue"/>
              <a:buNone/>
            </a:pPr>
            <a:r>
              <a:rPr b="0" lang="es-AR" sz="1050">
                <a:solidFill>
                  <a:srgbClr val="70808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Programación Eficiente · Parcial 1</a:t>
            </a:r>
            <a:endParaRPr/>
          </a:p>
        </p:txBody>
      </p:sp>
      <p:sp>
        <p:nvSpPr>
          <p:cNvPr id="246" name="Google Shape;246;p27"/>
          <p:cNvSpPr txBox="1"/>
          <p:nvPr>
            <p:ph idx="12" type="sldNum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rmAutofit fontScale="95497"/>
          </a:bodyPr>
          <a:lstStyle/>
          <a:p>
            <a:pPr indent="0" lvl="0" marL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70808D"/>
              </a:buClr>
              <a:buSzPct val="100000"/>
              <a:buFont typeface="Helvetica Neue"/>
              <a:buNone/>
            </a:pPr>
            <a:fld id="{00000000-1234-1234-1234-123412341234}" type="slidenum">
              <a:rPr b="0" lang="es-AR" sz="1050">
                <a:solidFill>
                  <a:srgbClr val="70808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/>
          </a:p>
        </p:txBody>
      </p:sp>
      <p:sp>
        <p:nvSpPr>
          <p:cNvPr id="247" name="Google Shape;247;p27"/>
          <p:cNvSpPr txBox="1"/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25"/>
              <a:buFont typeface="Helvetica Neue"/>
              <a:buNone/>
            </a:pPr>
            <a:r>
              <a:rPr b="1" lang="es-AR"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8. Comparación de resultados</a:t>
            </a:r>
            <a:endParaRPr/>
          </a:p>
        </p:txBody>
      </p:sp>
      <p:sp>
        <p:nvSpPr>
          <p:cNvPr id="248" name="Google Shape;248;p27"/>
          <p:cNvSpPr/>
          <p:nvPr/>
        </p:nvSpPr>
        <p:spPr>
          <a:xfrm>
            <a:off x="400939" y="1057501"/>
            <a:ext cx="11404599" cy="101225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4515C"/>
              </a:buClr>
              <a:buSzPts val="1725"/>
              <a:buFont typeface="Arial"/>
              <a:buNone/>
            </a:pPr>
            <a:r>
              <a:rPr b="0" lang="es-AR" sz="1725">
                <a:solidFill>
                  <a:srgbClr val="44515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Mismas 5.000 transacciones y 9 alertas en las cinco implementaciones.</a:t>
            </a:r>
            <a:endParaRPr/>
          </a:p>
        </p:txBody>
      </p:sp>
      <p:graphicFrame>
        <p:nvGraphicFramePr>
          <p:cNvPr id="249" name="Google Shape;249;p27"/>
          <p:cNvGraphicFramePr/>
          <p:nvPr/>
        </p:nvGraphicFramePr>
        <p:xfrm>
          <a:off x="400050" y="2047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{B7E0E7F2-8247-4FA1-82FD-09F0CBEFD509}</a:tableStyleId>
              </a:tblPr>
              <a:tblGrid>
                <a:gridCol w="3143250"/>
                <a:gridCol w="1619250"/>
                <a:gridCol w="1619250"/>
                <a:gridCol w="5010150"/>
              </a:tblGrid>
              <a:tr h="66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25"/>
                        <a:buFont typeface="Helvetica Neue"/>
                        <a:buNone/>
                      </a:pPr>
                      <a:r>
                        <a:rPr b="1" lang="es-AR" sz="1425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Versión</a:t>
                      </a:r>
                      <a:endParaRPr/>
                    </a:p>
                  </a:txBody>
                  <a:tcPr marT="76200" marB="76200" marR="95250" marL="95250" anchor="ctr">
                    <a:solidFill>
                      <a:srgbClr val="0026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25"/>
                        <a:buFont typeface="Helvetica Neue"/>
                        <a:buNone/>
                      </a:pPr>
                      <a:r>
                        <a:rPr b="1" lang="es-AR" sz="1425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Tiempo</a:t>
                      </a:r>
                      <a:endParaRPr/>
                    </a:p>
                  </a:txBody>
                  <a:tcPr marT="76200" marB="76200" marR="95250" marL="95250" anchor="ctr">
                    <a:solidFill>
                      <a:srgbClr val="0026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25"/>
                        <a:buFont typeface="Helvetica Neue"/>
                        <a:buNone/>
                      </a:pPr>
                      <a:r>
                        <a:rPr b="1" lang="es-AR" sz="1425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Memoria</a:t>
                      </a:r>
                      <a:endParaRPr/>
                    </a:p>
                  </a:txBody>
                  <a:tcPr marT="76200" marB="76200" marR="95250" marL="95250" anchor="ctr">
                    <a:solidFill>
                      <a:srgbClr val="0026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25"/>
                        <a:buFont typeface="Helvetica Neue"/>
                        <a:buNone/>
                      </a:pPr>
                      <a:r>
                        <a:rPr b="1" lang="es-AR" sz="1425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Observación</a:t>
                      </a:r>
                      <a:endParaRPr/>
                    </a:p>
                  </a:txBody>
                  <a:tcPr marT="76200" marB="76200" marR="95250" marL="95250" anchor="ctr">
                    <a:solidFill>
                      <a:srgbClr val="00264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Helvetica Neue"/>
                        <a:buNone/>
                      </a:pPr>
                      <a:r>
                        <a:rPr lang="es-AR" sz="142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Implementación inicial</a:t>
                      </a:r>
                      <a:endParaRPr/>
                    </a:p>
                  </a:txBody>
                  <a:tcPr marT="76200" marB="76200" marR="95250" marL="952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Helvetica Neue"/>
                        <a:buNone/>
                      </a:pPr>
                      <a:r>
                        <a:rPr lang="es-AR" sz="142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0,9273 s</a:t>
                      </a:r>
                      <a:endParaRPr/>
                    </a:p>
                  </a:txBody>
                  <a:tcPr marT="76200" marB="76200" marR="95250" marL="952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Helvetica Neue"/>
                        <a:buNone/>
                      </a:pPr>
                      <a:r>
                        <a:rPr lang="es-AR" sz="142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0,08 MB</a:t>
                      </a:r>
                      <a:endParaRPr/>
                    </a:p>
                  </a:txBody>
                  <a:tcPr marT="76200" marB="76200" marR="95250" marL="952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Helvetica Neue"/>
                        <a:buNone/>
                      </a:pPr>
                      <a:r>
                        <a:rPr lang="es-AR" sz="142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Baseline</a:t>
                      </a:r>
                      <a:endParaRPr/>
                    </a:p>
                  </a:txBody>
                  <a:tcPr marT="76200" marB="76200" marR="95250" marL="95250" anchor="ctr"/>
                </a:tc>
              </a:tr>
              <a:tr h="66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Helvetica Neue"/>
                        <a:buNone/>
                      </a:pPr>
                      <a:r>
                        <a:rPr lang="es-AR" sz="142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Estructura optimizada</a:t>
                      </a:r>
                      <a:endParaRPr/>
                    </a:p>
                  </a:txBody>
                  <a:tcPr marT="76200" marB="76200" marR="95250" marL="9525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Helvetica Neue"/>
                        <a:buNone/>
                      </a:pPr>
                      <a:r>
                        <a:rPr lang="es-AR" sz="142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0,0530 s</a:t>
                      </a:r>
                      <a:endParaRPr/>
                    </a:p>
                  </a:txBody>
                  <a:tcPr marT="76200" marB="76200" marR="95250" marL="9525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Helvetica Neue"/>
                        <a:buNone/>
                      </a:pPr>
                      <a:r>
                        <a:rPr lang="es-AR" sz="142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0,06 MB</a:t>
                      </a:r>
                      <a:endParaRPr/>
                    </a:p>
                  </a:txBody>
                  <a:tcPr marT="76200" marB="76200" marR="95250" marL="95250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Helvetica Neue"/>
                        <a:buNone/>
                      </a:pPr>
                      <a:r>
                        <a:rPr lang="es-AR" sz="142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dict, deque y set</a:t>
                      </a:r>
                      <a:endParaRPr/>
                    </a:p>
                  </a:txBody>
                  <a:tcPr marT="76200" marB="76200" marR="95250" marL="95250" anchor="ctr">
                    <a:solidFill>
                      <a:srgbClr val="F4F7F9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Helvetica Neue"/>
                        <a:buNone/>
                      </a:pPr>
                      <a:r>
                        <a:rPr lang="es-AR" sz="142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Algoritmo optimizado</a:t>
                      </a:r>
                      <a:endParaRPr/>
                    </a:p>
                  </a:txBody>
                  <a:tcPr marT="76200" marB="76200" marR="95250" marL="952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Helvetica Neue"/>
                        <a:buNone/>
                      </a:pPr>
                      <a:r>
                        <a:rPr lang="es-AR" sz="142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0,0125 s</a:t>
                      </a:r>
                      <a:endParaRPr/>
                    </a:p>
                  </a:txBody>
                  <a:tcPr marT="76200" marB="76200" marR="95250" marL="952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Helvetica Neue"/>
                        <a:buNone/>
                      </a:pPr>
                      <a:r>
                        <a:rPr lang="es-AR" sz="142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0,08 MB</a:t>
                      </a:r>
                      <a:endParaRPr/>
                    </a:p>
                  </a:txBody>
                  <a:tcPr marT="76200" marB="76200" marR="95250" marL="952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Helvetica Neue"/>
                        <a:buNone/>
                      </a:pPr>
                      <a:r>
                        <a:rPr lang="es-AR" sz="142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Quicksort y caché</a:t>
                      </a:r>
                      <a:endParaRPr/>
                    </a:p>
                  </a:txBody>
                  <a:tcPr marT="76200" marB="76200" marR="95250" marL="95250" anchor="ctr"/>
                </a:tc>
              </a:tr>
              <a:tr h="66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Helvetica Neue"/>
                        <a:buNone/>
                      </a:pPr>
                      <a:r>
                        <a:rPr lang="es-AR" sz="142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Concurrencia/paralelismo</a:t>
                      </a:r>
                      <a:endParaRPr/>
                    </a:p>
                  </a:txBody>
                  <a:tcPr marT="76200" marB="76200" marR="95250" marL="95250" anchor="ctr">
                    <a:solidFill>
                      <a:srgbClr val="FFF8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Helvetica Neue"/>
                        <a:buNone/>
                      </a:pPr>
                      <a:r>
                        <a:rPr lang="es-AR" sz="142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0,0797 s</a:t>
                      </a:r>
                      <a:endParaRPr/>
                    </a:p>
                  </a:txBody>
                  <a:tcPr marT="76200" marB="76200" marR="95250" marL="95250" anchor="ctr">
                    <a:solidFill>
                      <a:srgbClr val="FFF8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Helvetica Neue"/>
                        <a:buNone/>
                      </a:pPr>
                      <a:r>
                        <a:rPr lang="es-AR" sz="142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1,17 MB</a:t>
                      </a:r>
                      <a:endParaRPr/>
                    </a:p>
                  </a:txBody>
                  <a:tcPr marT="76200" marB="76200" marR="95250" marL="95250" anchor="ctr">
                    <a:solidFill>
                      <a:srgbClr val="FFF8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Helvetica Neue"/>
                        <a:buNone/>
                      </a:pPr>
                      <a:r>
                        <a:rPr lang="es-AR" sz="1425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Overhead de 2 procesos</a:t>
                      </a:r>
                      <a:endParaRPr/>
                    </a:p>
                  </a:txBody>
                  <a:tcPr marT="76200" marB="76200" marR="95250" marL="95250" anchor="ctr">
                    <a:solidFill>
                      <a:srgbClr val="FFF8E2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64F"/>
                        </a:buClr>
                        <a:buSzPts val="1425"/>
                        <a:buFont typeface="Helvetica Neue"/>
                        <a:buNone/>
                      </a:pPr>
                      <a:r>
                        <a:rPr b="1" lang="es-AR" sz="1425">
                          <a:solidFill>
                            <a:srgbClr val="00264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Versión final</a:t>
                      </a:r>
                      <a:endParaRPr/>
                    </a:p>
                  </a:txBody>
                  <a:tcPr marT="76200" marB="76200" marR="95250" marL="95250" anchor="ctr">
                    <a:solidFill>
                      <a:srgbClr val="E5F7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64F"/>
                        </a:buClr>
                        <a:buSzPts val="1425"/>
                        <a:buFont typeface="Helvetica Neue"/>
                        <a:buNone/>
                      </a:pPr>
                      <a:r>
                        <a:rPr b="1" lang="es-AR" sz="1425">
                          <a:solidFill>
                            <a:srgbClr val="00264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0,0104 s</a:t>
                      </a:r>
                      <a:endParaRPr/>
                    </a:p>
                  </a:txBody>
                  <a:tcPr marT="76200" marB="76200" marR="95250" marL="95250" anchor="ctr">
                    <a:solidFill>
                      <a:srgbClr val="E5F7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64F"/>
                        </a:buClr>
                        <a:buSzPts val="1425"/>
                        <a:buFont typeface="Helvetica Neue"/>
                        <a:buNone/>
                      </a:pPr>
                      <a:r>
                        <a:rPr b="1" lang="es-AR" sz="1425">
                          <a:solidFill>
                            <a:srgbClr val="00264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0,08 MB</a:t>
                      </a:r>
                      <a:endParaRPr/>
                    </a:p>
                  </a:txBody>
                  <a:tcPr marT="76200" marB="76200" marR="95250" marL="95250" anchor="ctr">
                    <a:solidFill>
                      <a:srgbClr val="E5F7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64F"/>
                        </a:buClr>
                        <a:buSzPts val="1425"/>
                        <a:buFont typeface="Helvetica Neue"/>
                        <a:buNone/>
                      </a:pPr>
                      <a:r>
                        <a:rPr b="1" lang="es-AR" sz="1425">
                          <a:solidFill>
                            <a:srgbClr val="00264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Secuencial optimizada</a:t>
                      </a:r>
                      <a:endParaRPr/>
                    </a:p>
                  </a:txBody>
                  <a:tcPr marT="76200" marB="76200" marR="95250" marL="95250" anchor="ctr">
                    <a:solidFill>
                      <a:srgbClr val="E5F7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3700" y="1732565"/>
            <a:ext cx="11404600" cy="339287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8"/>
          <p:cNvSpPr txBox="1"/>
          <p:nvPr>
            <p:ph idx="12" type="sldNum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sp>
        <p:nvSpPr>
          <p:cNvPr id="256" name="Google Shape;256;p28"/>
          <p:cNvSpPr txBox="1"/>
          <p:nvPr>
            <p:ph idx="11" type="ftr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rmAutofit fontScale="95497"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70808D"/>
              </a:buClr>
              <a:buSzPct val="100000"/>
              <a:buFont typeface="Helvetica Neue"/>
              <a:buNone/>
            </a:pPr>
            <a:r>
              <a:rPr b="0" lang="es-AR" sz="1050">
                <a:solidFill>
                  <a:srgbClr val="70808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Programación Eficiente · Parcial 1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9"/>
          <p:cNvSpPr txBox="1"/>
          <p:nvPr>
            <p:ph idx="11" type="ftr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rmAutofit fontScale="95497"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70808D"/>
              </a:buClr>
              <a:buSzPct val="100000"/>
              <a:buFont typeface="Helvetica Neue"/>
              <a:buNone/>
            </a:pPr>
            <a:r>
              <a:rPr b="0" lang="es-AR" sz="1050">
                <a:solidFill>
                  <a:srgbClr val="70808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Programación Eficiente · Parcial 1</a:t>
            </a:r>
            <a:endParaRPr/>
          </a:p>
        </p:txBody>
      </p:sp>
      <p:sp>
        <p:nvSpPr>
          <p:cNvPr id="263" name="Google Shape;263;p29"/>
          <p:cNvSpPr txBox="1"/>
          <p:nvPr>
            <p:ph idx="12" type="sldNum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rmAutofit fontScale="95497"/>
          </a:bodyPr>
          <a:lstStyle/>
          <a:p>
            <a:pPr indent="0" lvl="0" marL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70808D"/>
              </a:buClr>
              <a:buSzPct val="100000"/>
              <a:buFont typeface="Helvetica Neue"/>
              <a:buNone/>
            </a:pPr>
            <a:fld id="{00000000-1234-1234-1234-123412341234}" type="slidenum">
              <a:rPr b="0" lang="es-AR" sz="1050">
                <a:solidFill>
                  <a:srgbClr val="70808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/>
          </a:p>
        </p:txBody>
      </p:sp>
      <p:sp>
        <p:nvSpPr>
          <p:cNvPr id="264" name="Google Shape;264;p29"/>
          <p:cNvSpPr txBox="1"/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25"/>
              <a:buFont typeface="Helvetica Neue"/>
              <a:buNone/>
            </a:pPr>
            <a:r>
              <a:rPr b="1" lang="es-AR"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8. Escalabilidad</a:t>
            </a:r>
            <a:endParaRPr/>
          </a:p>
        </p:txBody>
      </p:sp>
      <p:sp>
        <p:nvSpPr>
          <p:cNvPr id="265" name="Google Shape;265;p29"/>
          <p:cNvSpPr/>
          <p:nvPr/>
        </p:nvSpPr>
        <p:spPr>
          <a:xfrm>
            <a:off x="6271986" y="3360085"/>
            <a:ext cx="2581975" cy="2656541"/>
          </a:xfrm>
          <a:prstGeom prst="roundRect">
            <a:avLst>
              <a:gd fmla="val 608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t/>
            </a: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6" name="Google Shape;266;p29"/>
          <p:cNvSpPr/>
          <p:nvPr/>
        </p:nvSpPr>
        <p:spPr>
          <a:xfrm>
            <a:off x="6509338" y="3579974"/>
            <a:ext cx="2133315" cy="11558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254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s-AR" sz="3375" u="none" cap="none">
                <a:solidFill>
                  <a:srgbClr val="3D8D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32,6×</a:t>
            </a:r>
            <a:endParaRPr sz="5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7" name="Google Shape;267;p29"/>
          <p:cNvSpPr/>
          <p:nvPr/>
        </p:nvSpPr>
        <p:spPr>
          <a:xfrm>
            <a:off x="6575956" y="5068235"/>
            <a:ext cx="2066698" cy="61595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4515C"/>
              </a:buClr>
              <a:buSzPts val="1331"/>
              <a:buFont typeface="Arial"/>
              <a:buNone/>
            </a:pPr>
            <a:r>
              <a:rPr b="0" lang="es-AR" sz="1331">
                <a:solidFill>
                  <a:srgbClr val="44515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mejora con</a:t>
            </a:r>
            <a:endParaRPr sz="1308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  <a:buClr>
                <a:srgbClr val="44515C"/>
              </a:buClr>
              <a:buSzPts val="1331"/>
              <a:buFont typeface="Arial"/>
              <a:buNone/>
            </a:pPr>
            <a:r>
              <a:rPr b="0" lang="es-AR" sz="1331">
                <a:solidFill>
                  <a:srgbClr val="44515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1.000 transacciones</a:t>
            </a:r>
            <a:endParaRPr sz="1308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8" name="Google Shape;268;p29"/>
          <p:cNvSpPr/>
          <p:nvPr/>
        </p:nvSpPr>
        <p:spPr>
          <a:xfrm>
            <a:off x="9224191" y="3360085"/>
            <a:ext cx="2581975" cy="2656541"/>
          </a:xfrm>
          <a:prstGeom prst="roundRect">
            <a:avLst>
              <a:gd fmla="val 4984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t/>
            </a: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9" name="Google Shape;269;p29"/>
          <p:cNvSpPr/>
          <p:nvPr/>
        </p:nvSpPr>
        <p:spPr>
          <a:xfrm>
            <a:off x="9461543" y="3579974"/>
            <a:ext cx="2133315" cy="11558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254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s-AR" sz="3375" u="none" cap="none">
                <a:solidFill>
                  <a:srgbClr val="20A98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155,6×</a:t>
            </a:r>
            <a:endParaRPr sz="5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0" name="Google Shape;270;p29"/>
          <p:cNvSpPr/>
          <p:nvPr/>
        </p:nvSpPr>
        <p:spPr>
          <a:xfrm>
            <a:off x="9528161" y="5068235"/>
            <a:ext cx="2066698" cy="61595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4515C"/>
              </a:buClr>
              <a:buSzPts val="1331"/>
              <a:buFont typeface="Arial"/>
              <a:buNone/>
            </a:pPr>
            <a:r>
              <a:rPr b="0" lang="es-AR" sz="1331">
                <a:solidFill>
                  <a:srgbClr val="44515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mejora con</a:t>
            </a:r>
            <a:endParaRPr sz="1308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  <a:buClr>
                <a:srgbClr val="44515C"/>
              </a:buClr>
              <a:buSzPts val="1331"/>
              <a:buFont typeface="Arial"/>
              <a:buNone/>
            </a:pPr>
            <a:r>
              <a:rPr b="0" lang="es-AR" sz="1331">
                <a:solidFill>
                  <a:srgbClr val="44515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5.000 transacciones</a:t>
            </a:r>
            <a:endParaRPr sz="1308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1" name="Google Shape;271;p29"/>
          <p:cNvSpPr/>
          <p:nvPr/>
        </p:nvSpPr>
        <p:spPr>
          <a:xfrm>
            <a:off x="6261100" y="1955554"/>
            <a:ext cx="5539873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4515C"/>
              </a:buClr>
              <a:buSzPts val="1800"/>
              <a:buFont typeface="Arial"/>
              <a:buNone/>
            </a:pPr>
            <a:r>
              <a:rPr b="0" lang="es-AR" sz="1800">
                <a:solidFill>
                  <a:srgbClr val="44515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 distancia aumenta con el volumen, como predicen O(n²) y O(n log n).</a:t>
            </a:r>
            <a:endParaRPr/>
          </a:p>
        </p:txBody>
      </p:sp>
      <p:pic>
        <p:nvPicPr>
          <p:cNvPr id="272" name="Google Shape;27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050" y="1428750"/>
            <a:ext cx="5524500" cy="452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0"/>
          <p:cNvSpPr txBox="1"/>
          <p:nvPr>
            <p:ph idx="12" type="sldNum"/>
          </p:nvPr>
        </p:nvSpPr>
        <p:spPr>
          <a:xfrm>
            <a:off x="11279332" y="6279294"/>
            <a:ext cx="519000" cy="241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pic>
        <p:nvPicPr>
          <p:cNvPr id="279" name="Google Shape;27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8338" y="152400"/>
            <a:ext cx="10485120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1"/>
          <p:cNvSpPr/>
          <p:nvPr/>
        </p:nvSpPr>
        <p:spPr>
          <a:xfrm>
            <a:off x="400050" y="495300"/>
            <a:ext cx="11391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25"/>
              <a:buFont typeface="Helvetica Neue"/>
              <a:buNone/>
            </a:pPr>
            <a:r>
              <a:rPr b="1" lang="es-AR"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10. Conclusiones</a:t>
            </a:r>
            <a:endParaRPr/>
          </a:p>
        </p:txBody>
      </p:sp>
      <p:sp>
        <p:nvSpPr>
          <p:cNvPr id="286" name="Google Shape;286;p31"/>
          <p:cNvSpPr/>
          <p:nvPr/>
        </p:nvSpPr>
        <p:spPr>
          <a:xfrm>
            <a:off x="400050" y="1952625"/>
            <a:ext cx="25717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0A98A"/>
              </a:buClr>
              <a:buSzPts val="1500"/>
              <a:buFont typeface="Helvetica Neue"/>
              <a:buNone/>
            </a:pPr>
            <a:r>
              <a:rPr b="1" lang="es-AR" sz="1500">
                <a:solidFill>
                  <a:srgbClr val="20A98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Mayor impacto</a:t>
            </a:r>
            <a:endParaRPr/>
          </a:p>
        </p:txBody>
      </p:sp>
      <p:sp>
        <p:nvSpPr>
          <p:cNvPr id="287" name="Google Shape;287;p31"/>
          <p:cNvSpPr/>
          <p:nvPr/>
        </p:nvSpPr>
        <p:spPr>
          <a:xfrm>
            <a:off x="3143250" y="1866900"/>
            <a:ext cx="80962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264F"/>
              </a:buClr>
              <a:buSzPts val="2025"/>
              <a:buFont typeface="Helvetica Neue"/>
              <a:buNone/>
            </a:pPr>
            <a:r>
              <a:rPr b="1" lang="es-AR" sz="2025">
                <a:solidFill>
                  <a:srgbClr val="00264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Quicksort, ventanas deslizantes y caché redujeron el tiempo de 0,9273 s a 0,0104 s.</a:t>
            </a:r>
            <a:endParaRPr/>
          </a:p>
        </p:txBody>
      </p:sp>
      <p:sp>
        <p:nvSpPr>
          <p:cNvPr id="288" name="Google Shape;288;p31"/>
          <p:cNvSpPr/>
          <p:nvPr/>
        </p:nvSpPr>
        <p:spPr>
          <a:xfrm>
            <a:off x="400050" y="3238500"/>
            <a:ext cx="25717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67576"/>
              </a:buClr>
              <a:buSzPts val="1500"/>
              <a:buFont typeface="Helvetica Neue"/>
              <a:buNone/>
            </a:pPr>
            <a:r>
              <a:rPr b="1" lang="es-AR" sz="1500">
                <a:solidFill>
                  <a:srgbClr val="F675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Sin mejora</a:t>
            </a:r>
            <a:endParaRPr/>
          </a:p>
        </p:txBody>
      </p:sp>
      <p:sp>
        <p:nvSpPr>
          <p:cNvPr id="289" name="Google Shape;289;p31"/>
          <p:cNvSpPr/>
          <p:nvPr/>
        </p:nvSpPr>
        <p:spPr>
          <a:xfrm>
            <a:off x="3143250" y="3143250"/>
            <a:ext cx="80962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264F"/>
              </a:buClr>
              <a:buSzPts val="2025"/>
              <a:buFont typeface="Helvetica Neue"/>
              <a:buNone/>
            </a:pPr>
            <a:r>
              <a:rPr b="1" lang="es-AR" sz="2025">
                <a:solidFill>
                  <a:srgbClr val="00264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 paralelismo fue más lento por el costo de crear procesos y transferir datos.</a:t>
            </a:r>
            <a:endParaRPr/>
          </a:p>
        </p:txBody>
      </p:sp>
      <p:sp>
        <p:nvSpPr>
          <p:cNvPr id="290" name="Google Shape;290;p31"/>
          <p:cNvSpPr/>
          <p:nvPr/>
        </p:nvSpPr>
        <p:spPr>
          <a:xfrm>
            <a:off x="400050" y="4524375"/>
            <a:ext cx="25717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1500"/>
              <a:buFont typeface="Helvetica Neue"/>
              <a:buNone/>
            </a:pPr>
            <a:r>
              <a:rPr b="1" lang="es-AR" sz="1500">
                <a:solidFill>
                  <a:srgbClr val="3D8D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Próximo paso</a:t>
            </a:r>
            <a:endParaRPr/>
          </a:p>
        </p:txBody>
      </p:sp>
      <p:sp>
        <p:nvSpPr>
          <p:cNvPr id="291" name="Google Shape;291;p31"/>
          <p:cNvSpPr/>
          <p:nvPr/>
        </p:nvSpPr>
        <p:spPr>
          <a:xfrm>
            <a:off x="3143250" y="4429125"/>
            <a:ext cx="80962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264F"/>
              </a:buClr>
              <a:buSzPts val="2025"/>
              <a:buFont typeface="Helvetica Neue"/>
              <a:buNone/>
            </a:pPr>
            <a:r>
              <a:rPr b="1" lang="es-AR" sz="2025">
                <a:solidFill>
                  <a:srgbClr val="00264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Probar datos reales y reglas más costosas. Volver a medir antes de paralelizar.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