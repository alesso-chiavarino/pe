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a2c5a5363f4203" /><Relationship Type="http://schemas.openxmlformats.org/officeDocument/2006/relationships/extended-properties" Target="/docProps/app.xml" Id="R20403965be4f41de" /><Relationship Type="http://schemas.openxmlformats.org/officeDocument/2006/relationships/officeDocument" Target="/ppt/presentation.xml" Id="Rfa33bc78744246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5a1b0b2d5e46ba"/>
  </p:sldMasterIdLst>
  <p:notesMasterIdLst>
    <p:notesMasterId xmlns:r="http://schemas.openxmlformats.org/officeDocument/2006/relationships" r:id="Rcc86accc23894a2f"/>
  </p:notesMasterIdLst>
  <p:sldIdLst>
    <p:sldId xmlns:r="http://schemas.openxmlformats.org/officeDocument/2006/relationships" id="256" r:id="R2e490fbdac96442a"/>
    <p:sldId xmlns:r="http://schemas.openxmlformats.org/officeDocument/2006/relationships" id="257" r:id="R3b4886e0c98f40dd"/>
    <p:sldId xmlns:r="http://schemas.openxmlformats.org/officeDocument/2006/relationships" id="258" r:id="Raaf6fae1609f4687"/>
    <p:sldId xmlns:r="http://schemas.openxmlformats.org/officeDocument/2006/relationships" id="259" r:id="Ra5ea091020974733"/>
    <p:sldId xmlns:r="http://schemas.openxmlformats.org/officeDocument/2006/relationships" id="260" r:id="R246bde55c7164020"/>
    <p:sldId xmlns:r="http://schemas.openxmlformats.org/officeDocument/2006/relationships" id="261" r:id="Re7b06812f86d4d53"/>
    <p:sldId xmlns:r="http://schemas.openxmlformats.org/officeDocument/2006/relationships" id="262" r:id="Rb96f9c59bd73448e"/>
    <p:sldId xmlns:r="http://schemas.openxmlformats.org/officeDocument/2006/relationships" id="263" r:id="R175543edfae9422d"/>
    <p:sldId xmlns:r="http://schemas.openxmlformats.org/officeDocument/2006/relationships" id="264" r:id="R802fd480d7494391"/>
    <p:sldId xmlns:r="http://schemas.openxmlformats.org/officeDocument/2006/relationships" id="265" r:id="R6c28f7070c934309"/>
    <p:sldId xmlns:r="http://schemas.openxmlformats.org/officeDocument/2006/relationships" id="266" r:id="Ra707d86717f14509"/>
    <p:sldId xmlns:r="http://schemas.openxmlformats.org/officeDocument/2006/relationships" id="267" r:id="Rdee5a9b97d964fd2"/>
    <p:sldId xmlns:r="http://schemas.openxmlformats.org/officeDocument/2006/relationships" id="268" r:id="Ra22c8c83820a4def"/>
    <p:sldId xmlns:r="http://schemas.openxmlformats.org/officeDocument/2006/relationships" id="269" r:id="R6e1bee6deae24e47"/>
    <p:sldId xmlns:r="http://schemas.openxmlformats.org/officeDocument/2006/relationships" id="270" r:id="Rcd0b302c1ce945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d9eccb19914c63" /><Relationship Type="http://schemas.openxmlformats.org/officeDocument/2006/relationships/slideMaster" Target="/ppt/slideMasters/slideMaster1.xml" Id="R8d5a1b0b2d5e46ba" /><Relationship Type="http://schemas.openxmlformats.org/officeDocument/2006/relationships/notesMaster" Target="/ppt/notesMasters/notesMaster1.xml" Id="Rcc86accc23894a2f" /><Relationship Type="http://schemas.openxmlformats.org/officeDocument/2006/relationships/presProps" Target="/ppt/presProps.xml" Id="Ra2f0f1da9a074847" /><Relationship Type="http://schemas.openxmlformats.org/officeDocument/2006/relationships/tableStyles" Target="/ppt/tableStyles.xml" Id="R2cfbfdb6ee4b4d99" /><Relationship Type="http://schemas.openxmlformats.org/officeDocument/2006/relationships/slide" Target="/ppt/slides/slide1.xml" Id="R2e490fbdac96442a" /><Relationship Type="http://schemas.openxmlformats.org/officeDocument/2006/relationships/slide" Target="/ppt/slides/slide2.xml" Id="R3b4886e0c98f40dd" /><Relationship Type="http://schemas.openxmlformats.org/officeDocument/2006/relationships/slide" Target="/ppt/slides/slide3.xml" Id="Raaf6fae1609f4687" /><Relationship Type="http://schemas.openxmlformats.org/officeDocument/2006/relationships/slide" Target="/ppt/slides/slide4.xml" Id="Ra5ea091020974733" /><Relationship Type="http://schemas.openxmlformats.org/officeDocument/2006/relationships/slide" Target="/ppt/slides/slide5.xml" Id="R246bde55c7164020" /><Relationship Type="http://schemas.openxmlformats.org/officeDocument/2006/relationships/slide" Target="/ppt/slides/slide6.xml" Id="Re7b06812f86d4d53" /><Relationship Type="http://schemas.openxmlformats.org/officeDocument/2006/relationships/slide" Target="/ppt/slides/slide7.xml" Id="Rb96f9c59bd73448e" /><Relationship Type="http://schemas.openxmlformats.org/officeDocument/2006/relationships/slide" Target="/ppt/slides/slide8.xml" Id="R175543edfae9422d" /><Relationship Type="http://schemas.openxmlformats.org/officeDocument/2006/relationships/slide" Target="/ppt/slides/slide9.xml" Id="R802fd480d7494391" /><Relationship Type="http://schemas.openxmlformats.org/officeDocument/2006/relationships/slide" Target="/ppt/slides/slide10.xml" Id="R6c28f7070c934309" /><Relationship Type="http://schemas.openxmlformats.org/officeDocument/2006/relationships/slide" Target="/ppt/slides/slide11.xml" Id="Ra707d86717f14509" /><Relationship Type="http://schemas.openxmlformats.org/officeDocument/2006/relationships/slide" Target="/ppt/slides/slide12.xml" Id="Rdee5a9b97d964fd2" /><Relationship Type="http://schemas.openxmlformats.org/officeDocument/2006/relationships/slide" Target="/ppt/slides/slide13.xml" Id="Ra22c8c83820a4def" /><Relationship Type="http://schemas.openxmlformats.org/officeDocument/2006/relationships/slide" Target="/ppt/slides/slide14.xml" Id="R6e1bee6deae24e47" /><Relationship Type="http://schemas.openxmlformats.org/officeDocument/2006/relationships/slide" Target="/ppt/slides/slide15.xml" Id="Rcd0b302c1ce945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ebf897e43a44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94e002fe844ee" /><Relationship Type="http://schemas.openxmlformats.org/officeDocument/2006/relationships/notesMaster" Target="/ppt/notesMasters/notesMaster1.xml" Id="R8e151c93a2f14c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127daecd684b86" /><Relationship Type="http://schemas.openxmlformats.org/officeDocument/2006/relationships/notesMaster" Target="/ppt/notesMasters/notesMaster1.xml" Id="R095d840c923d43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20951e3dd34b77" /><Relationship Type="http://schemas.openxmlformats.org/officeDocument/2006/relationships/notesMaster" Target="/ppt/notesMasters/notesMaster1.xml" Id="R8181480f2b8647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edbcff374940fb" /><Relationship Type="http://schemas.openxmlformats.org/officeDocument/2006/relationships/notesMaster" Target="/ppt/notesMasters/notesMaster1.xml" Id="R99e8543672f540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e3c50b86424fa6" /><Relationship Type="http://schemas.openxmlformats.org/officeDocument/2006/relationships/notesMaster" Target="/ppt/notesMasters/notesMaster1.xml" Id="Reefb76014d8247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dd345b84ee4340" /><Relationship Type="http://schemas.openxmlformats.org/officeDocument/2006/relationships/notesMaster" Target="/ppt/notesMasters/notesMaster1.xml" Id="Rc38b011b0e0d40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c5627dc20c4c1b" /><Relationship Type="http://schemas.openxmlformats.org/officeDocument/2006/relationships/notesMaster" Target="/ppt/notesMasters/notesMaster1.xml" Id="Rbb0b6a63eae242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beaba8a37841c9" /><Relationship Type="http://schemas.openxmlformats.org/officeDocument/2006/relationships/notesMaster" Target="/ppt/notesMasters/notesMaster1.xml" Id="R1d289f18c3c64e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562a2bb58540ae" /><Relationship Type="http://schemas.openxmlformats.org/officeDocument/2006/relationships/notesMaster" Target="/ppt/notesMasters/notesMaster1.xml" Id="Rba7ace5ece4c43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93ea1af789494b" /><Relationship Type="http://schemas.openxmlformats.org/officeDocument/2006/relationships/notesMaster" Target="/ppt/notesMasters/notesMaster1.xml" Id="R86245fc146ff48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a64ab6a74c4602" /><Relationship Type="http://schemas.openxmlformats.org/officeDocument/2006/relationships/notesMaster" Target="/ppt/notesMasters/notesMaster1.xml" Id="R41b5219f5c8948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89674df58844c0" /><Relationship Type="http://schemas.openxmlformats.org/officeDocument/2006/relationships/notesMaster" Target="/ppt/notesMasters/notesMaster1.xml" Id="Rd37cfe6536ea46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597d613d6444c6" /><Relationship Type="http://schemas.openxmlformats.org/officeDocument/2006/relationships/notesMaster" Target="/ppt/notesMasters/notesMaster1.xml" Id="R5a4b724d5f2d4f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338cd8395b4b8f" /><Relationship Type="http://schemas.openxmlformats.org/officeDocument/2006/relationships/notesMaster" Target="/ppt/notesMasters/notesMaster1.xml" Id="R9c69f81a5b334d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57561bfda34050" /><Relationship Type="http://schemas.openxmlformats.org/officeDocument/2006/relationships/notesMaster" Target="/ppt/notesMasters/notesMaster1.xml" Id="R9fb4c6c76be94c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trabajo como una evolución del primer parcial: se mantiene el dominio y se mejora la ingeniería del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Proyecto local parcial_2.</a:t>
            </a:r>
          </a:p>
          <a:p xmlns:a="http://schemas.openxmlformats.org/drawingml/2006/main">
            <a:r>
              <a:t>Fuente: Material de clase Programacion-eficiente.pptx.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el objetivo no fue reescribir todo: se conservó lo que funcionaba y se atacaron límites concretos del primer parcial.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parcial_2/README.md.</a:t>
            </a:r>
          </a:p>
          <a:p xmlns:a="http://schemas.openxmlformats.org/drawingml/2006/main">
            <a:r>
              <a:t>Fuente: Resultados verificados localmente con pytest y pytest-cov.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para definir el concepto antes de mostrar los cambios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Material de clase, diapositivas 243–245: reestructurar sin cambiar funcionalidad, simplificar y eliminar duplicación.</a:t>
            </a:r>
          </a:p>
          <a:p xmlns:a="http://schemas.openxmlformats.org/drawingml/2006/main">
            <a:r>
              <a:t>Fuente: Material de clase, diapositivas 253–254: Long Method y Extract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Nombrar los patrones en inglés porque son los nombres habituales de catálogo y vincular cada uno con un archivo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parcial_2/CAMBIOS_PARCIAL_2.md.</a:t>
            </a:r>
          </a:p>
          <a:p xmlns:a="http://schemas.openxmlformats.org/drawingml/2006/main">
            <a:r>
              <a:t>Fuente: parcial_2/detectores.py y parcial_2/configuracion.py.</a:t>
            </a:r>
          </a:p>
          <a:p xmlns:a="http://schemas.openxmlformats.org/drawingml/2006/main">
            <a:r>
              <a:t>Fuente: Material de clase, diapositivas 246–247: Rename, Extract Method/Variable/Constant, Move e Inline.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recorrido de izquierda a derecha y remarcar que cada módulo tiene una responsabilidad clara.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parcial_2/main.py, generador.py, archivos.py, detectores.py y configuracion.py.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es el ejemplo más fácil de defender: tres bloques repetidos pasan a una función compartida.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parcial_2/main.py: _agregar_datos_generados.</a:t>
            </a:r>
          </a:p>
          <a:p xmlns:a="http://schemas.openxmlformats.org/drawingml/2006/main">
            <a:r>
              <a:t>Fuente: parcial_2/CAMBIOS_PARCIAL_2.md.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SnakeViz no optimiza automáticamente: muestra evidencia para decidir qué optimizar.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parcial_2/perfilado.py y parcial_2/README.md.</a:t>
            </a:r>
          </a:p>
          <a:p xmlns:a="http://schemas.openxmlformats.org/drawingml/2006/main">
            <a:r>
              <a:t>Fuente: Material de clase, diapositiva 178: SnakeViz visualiza perfiles de cProfile; diapositiva 291: cProfile + SnakeViz.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Defender psutil como la alternativa permitida por el enunciado. Es adecuada para observar un proceso local y evita infraestructura innecesaria.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parcial_2/monitoreo.py y parcial_2/main.py.</a:t>
            </a:r>
          </a:p>
          <a:p xmlns:a="http://schemas.openxmlformats.org/drawingml/2006/main">
            <a:r>
              <a:t>Fuente: Material de clase, diapositivas 182, 184 y 185: YourKit, New Relic y Elastic APM.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Remarcar que batching por sí solo no alcanza: hay que conservar estado para no perder alertas en los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parcial_2/archivos.py: calcular_perfiles_csv e iterar_alertas_csv.</a:t>
            </a:r>
          </a:p>
          <a:p xmlns:a="http://schemas.openxmlformats.org/drawingml/2006/main">
            <a:r>
              <a:t>Fuente: Material de clase, diapositivas 187–209: E/S, buffers, batching y archivos grandes.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paralelizar no siempre acelera: la versión final conserva la estrategia secuencial optimizada porque el overhead de procesos fue mayor con estos volúmenes.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parcial_2/archivos.py: TAMANIO_BUFFER_PREDETERMINADO y agrupar_en_lotes.</a:t>
            </a:r>
          </a:p>
          <a:p xmlns:a="http://schemas.openxmlformats.org/drawingml/2006/main">
            <a:r>
              <a:t>Fuente: parcial_2/detectores.py: ProcessPoolExecutor por grupos de usuario.</a:t>
            </a:r>
          </a:p>
          <a:p xmlns:a="http://schemas.openxmlformats.org/drawingml/2006/main">
            <a:r>
              <a:t>Fuente: Material de clase, diapositivas 205–209: batching y procesamiento paralelo.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comentarios de docstrings: el comentario explica decisiones no obvias; el docstring documenta la interfaz de un módulo, clase o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parcial_2/*.py y parcial_2/.flake8.</a:t>
            </a:r>
          </a:p>
          <a:p xmlns:a="http://schemas.openxmlformats.org/drawingml/2006/main">
            <a:r>
              <a:t>Fuente: Material de clase, diapositiva 216: docstrings; diapositiva 235 y 420: flake8.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 cadena código-docstring-HTML. La documentación deja de ser un archivo aislado y se genera desde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parcial_2/docs/index.rst, uso.rst, api.rst y refactorizacion.rst.</a:t>
            </a:r>
          </a:p>
          <a:p xmlns:a="http://schemas.openxmlformats.org/drawingml/2006/main">
            <a:r>
              <a:t>Fuente: Material de clase, diapositivas 240–241 y 331–338: Sphinx.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que flake8 reemplaza todas las capacidades de SonarQube. Presentarlo como alternativa proporcionada para estilo y análisis estático básico.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parcial_2/.flake8 y verificación local python -m flake8 .</a:t>
            </a:r>
          </a:p>
          <a:p xmlns:a="http://schemas.openxmlformats.org/drawingml/2006/main">
            <a:r>
              <a:t>Fuente: Material de clase, diapositiva 242: capacidades de SonarQube; diapositivas 235 y 420: flake8.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Responder explícitamente la duda: pytest sí cuenta como framework, específicamente un framework de testing para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parcial_2/tests/test_archivos.py, test_detectores.py y test_monitoreo.py.</a:t>
            </a:r>
          </a:p>
          <a:p xmlns:a="http://schemas.openxmlformats.org/drawingml/2006/main">
            <a:r>
              <a:t>Fuente: Resultados verificados localmente: 15 tests y 94% de cobertura del núcleo.</a:t>
            </a:r>
          </a:p>
          <a:p xmlns:a="http://schemas.openxmlformats.org/drawingml/2006/main">
            <a:r>
              <a:t>Fuente: Material de clase, diapositivas 272–275: tipos de testing y características de pytest.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volviendo a la idea central: no se agregaron herramientas de forma decorativa; cada una resuelve un límite concreto del primer parcial.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parcial_2/CAMBIOS_PARCIAL_2.md y parcial_2/README.md.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56e6479f049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66088c9c24c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cc0cdc00648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ac6018bc146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b000f2cc940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ebfa057874f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60B197-7DCB-47CC-89BC-C2BA627A44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50BDB2-2449-43E7-937F-07093EF994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B4F52D-F025-464B-933A-8E0A6272AE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F79EC3-C52D-483E-9802-5789F1C2C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08381E-C79D-4B6E-BB9E-8A59AA70C1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B67389-0AC8-49EC-B3F0-DC4A48598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248100-5498-4B5F-BB0E-070A49C225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9F6F73-C24C-4685-8181-217E079DB4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914F91-9755-48CF-8B95-91603C83A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5FE2C6-07B8-4C80-88EC-8DE158E692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2b5f7e90864fd8" /><Relationship Type="http://schemas.openxmlformats.org/officeDocument/2006/relationships/slideLayout" Target="/ppt/slideLayouts/slideLayout1.xml" Id="R82c890652e7e4ec6" /><Relationship Type="http://schemas.openxmlformats.org/officeDocument/2006/relationships/slideLayout" Target="/ppt/slideLayouts/slideLayout2.xml" Id="R72f5e8ba902d4a9b" /><Relationship Type="http://schemas.openxmlformats.org/officeDocument/2006/relationships/slideLayout" Target="/ppt/slideLayouts/slideLayout3.xml" Id="Rdae8dc350fcd4fe4" /><Relationship Type="http://schemas.openxmlformats.org/officeDocument/2006/relationships/slideLayout" Target="/ppt/slideLayouts/slideLayout4.xml" Id="Rad0aaecaa7dc4b44" /><Relationship Type="http://schemas.openxmlformats.org/officeDocument/2006/relationships/slideLayout" Target="/ppt/slideLayouts/slideLayout5.xml" Id="Ra94297285b974791" /><Relationship Type="http://schemas.openxmlformats.org/officeDocument/2006/relationships/slideLayout" Target="/ppt/slideLayouts/slideLayout6.xml" Id="Rea1fa603aef344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890652e7e4ec6"/>
    <p:sldLayoutId xmlns:r="http://schemas.openxmlformats.org/officeDocument/2006/relationships" id="2147483650" r:id="R72f5e8ba902d4a9b"/>
    <p:sldLayoutId xmlns:r="http://schemas.openxmlformats.org/officeDocument/2006/relationships" id="2147483651" r:id="Rdae8dc350fcd4fe4"/>
    <p:sldLayoutId xmlns:r="http://schemas.openxmlformats.org/officeDocument/2006/relationships" id="2147483652" r:id="Rad0aaecaa7dc4b44"/>
    <p:sldLayoutId xmlns:r="http://schemas.openxmlformats.org/officeDocument/2006/relationships" id="2147483653" r:id="Ra94297285b974791"/>
    <p:sldLayoutId xmlns:r="http://schemas.openxmlformats.org/officeDocument/2006/relationships" id="2147483654" r:id="Rea1fa603aef344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36656604c4de6" /><Relationship Type="http://schemas.openxmlformats.org/officeDocument/2006/relationships/image" Target="/ppt/media/image.png" Id="R53c2a9bc2d5d4c5c" /><Relationship Type="http://schemas.openxmlformats.org/officeDocument/2006/relationships/notesSlide" Target="/ppt/notesSlides/notesSlide1.xml" Id="Rb8b2b18b4f3c4a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de873e9f64583" /><Relationship Type="http://schemas.openxmlformats.org/officeDocument/2006/relationships/notesSlide" Target="/ppt/notesSlides/notesSlide2.xml" Id="R7356ccdc08cb4c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06679b1da45eb" /><Relationship Type="http://schemas.openxmlformats.org/officeDocument/2006/relationships/notesSlide" Target="/ppt/notesSlides/notesSlide3.xml" Id="R4ef72c4f8c7249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a001875104a95" /><Relationship Type="http://schemas.openxmlformats.org/officeDocument/2006/relationships/notesSlide" Target="/ppt/notesSlides/notesSlide4.xml" Id="Rc6a91dac3d244f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0640809e24cf9" /><Relationship Type="http://schemas.openxmlformats.org/officeDocument/2006/relationships/notesSlide" Target="/ppt/notesSlides/notesSlide5.xml" Id="Rb001c6531ba84e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608a4ee00a412f" /><Relationship Type="http://schemas.openxmlformats.org/officeDocument/2006/relationships/notesSlide" Target="/ppt/notesSlides/notesSlide6.xml" Id="Re42519fda6754b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18896ea38420c" /><Relationship Type="http://schemas.openxmlformats.org/officeDocument/2006/relationships/notesSlide" Target="/ppt/notesSlides/notesSlide7.xml" Id="R2da06dc576ee42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7d60256d94b64" /><Relationship Type="http://schemas.openxmlformats.org/officeDocument/2006/relationships/notesSlide" Target="/ppt/notesSlides/notesSlide8.xml" Id="Rbf72950f94de41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6ea7bae114a8d" /><Relationship Type="http://schemas.openxmlformats.org/officeDocument/2006/relationships/notesSlide" Target="/ppt/notesSlides/notesSlide9.xml" Id="R367eb046382c49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5679cb83e4677" /><Relationship Type="http://schemas.openxmlformats.org/officeDocument/2006/relationships/notesSlide" Target="/ppt/notesSlides/notesSlide10.xml" Id="Rf82e8d7c567049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1a3e1dcab40dd" /><Relationship Type="http://schemas.openxmlformats.org/officeDocument/2006/relationships/notesSlide" Target="/ppt/notesSlides/notesSlide11.xml" Id="R8c91165352dc46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1f27e584345b0" /><Relationship Type="http://schemas.openxmlformats.org/officeDocument/2006/relationships/notesSlide" Target="/ppt/notesSlides/notesSlide12.xml" Id="Rdb0793352fcd49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821eb5e8c473e" /><Relationship Type="http://schemas.openxmlformats.org/officeDocument/2006/relationships/notesSlide" Target="/ppt/notesSlides/notesSlide13.xml" Id="Ra7a60ae5c94a44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37ab781ed4124" /><Relationship Type="http://schemas.openxmlformats.org/officeDocument/2006/relationships/notesSlide" Target="/ppt/notesSlides/notesSlide14.xml" Id="Rb3c6dd94d86946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ff8c0e76443ea" /><Relationship Type="http://schemas.openxmlformats.org/officeDocument/2006/relationships/notesSlide" Target="/ppt/notesSlides/notesSlide15.xml" Id="R6a7fa5996fab4f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36020-0BB7-442F-893D-C22280048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2a9bc2d5d4c5c"/>
          <a:stretch xmlns:a="http://schemas.openxmlformats.org/drawingml/2006/main"/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8A8A7-B52F-485A-B15D-15FBFE20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A4100-C9B6-4497-9B53-A70A6172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676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B2E1C-6E93-4A61-95B4-1444B83C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SEGUNDO PARCIAL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7D4DE-CD26-4B5E-9FF0-92300881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66825"/>
            <a:ext cx="5572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Mejoras sobre el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detector de transacciones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24AC8-7B1A-4610-B98E-51857F65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Refactorización · archivos grandes · calidad ·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2EFCE-05D8-4241-BB01-2AAF9D4F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540A6-3991-4BE2-824C-FB377A15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Python · Proyecto parcial_2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D2E24-56ED-467A-8555-8F6A4DE8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La misma funcionalidad, con una arquitectura más mantenible y preparada para mayor volumen.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4BF57-F6C2-46F0-AF6F-AC6C40EA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</a:t>
            </a:r>
          </a:p>
        </p:txBody>
      </p:sp>
    </p:spTree>
    <p:extLst>
      <p:ext uri="{BB962C8B-B14F-4D97-AF65-F5344CB8AC3E}">
        <p14:creationId xmlns:p14="http://schemas.microsoft.com/office/powerpoint/2010/main" val="1333170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A0C551-676F-49E8-A083-D098D23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PUNTO DE PARTIDA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38C47-250D-483B-BC06-06BF821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Del parcial 1 al parcial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B9729-2F5F-47AC-9949-342660F1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3C898-616F-42E7-9DDF-711EBFFA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1FF76-1868-4E82-8AB1-09F49890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949EB-EB1E-4A52-A01F-D2482A6C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AE820-35A7-44D8-87F3-3886B2DA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7FCE6-48D6-49A7-9F95-53B89A7A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8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B28A6-6FB7-4818-81B3-8C134A13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Parcial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1B139-CAE5-4E55-A864-7712F71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Comparó cinco estrategias, midió tiempos y memoria, y justificó estructuras como dict, deque, set y cache LRU.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4C454-72ED-4338-9ED3-818E7F10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3D49F-3A28-4FDA-B2B6-83DC3390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56181-0AE0-40C6-923F-989B7356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571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796AF-4E14-489D-9AA8-5853D2E3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33337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393C2-CCDB-4A6C-9A66-3E58CBBC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A2F22-834E-4CC6-B636-E49205EE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Problema nuevo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8C1FA-4514-407F-9483-5FE044EC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0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El programa funcionaba, pero necesitaba menos duplicación, procesamiento de archivos grandes y controles automáticos de calidad.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2488C-0002-4021-BA21-75AC881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D8860-E7CF-43E3-ADFF-A17C9B80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D500D-A833-4A82-B8D5-48B43116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1405E-9815-47C4-A0EB-57075E53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7813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77D8B-E4A1-401E-8B66-EA9BA6DC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F4FA3-2B60-4FA0-AE24-7510D25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Parcial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3FD51-5DD2-4A32-8CEF-8F3BBBF9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400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lógica pasa a módulos reutilizables, se procesa por streaming y el comportamiento queda protegido por pruebas.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D53FB-F299-4880-AA44-9045750F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44881-26EA-4796-B755-16438C16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2F977-247D-4B6A-8391-2CFCBAA4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1BA8FD-FE7B-41F8-81D3-777B466D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98A68A-2B6B-4638-868E-51B3CA5D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pruebas automatizadas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BA509-DDE9-4184-B33B-410547E2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4E3D7A-F288-44B2-9FA3-67340A0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910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35F9C-6647-4C25-9D3A-F0BA5664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768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cobertura del núcleo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89E6FC-84AB-46B8-B1E4-36F087E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38625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EA99ED-2ABC-4ECA-A8CB-FBADEBB8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91025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1 MB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C2A2C3-BE6A-423A-BAC2-E4239896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buffer de E/S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F795D-6FC4-4B70-9E71-DE7460B5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38625"/>
            <a:ext cx="3409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D9C22A-6343-4017-8AAE-597ED50A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910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--transacciones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417FE1-F88C-4DE2-975C-8F0D856C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768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volumen configurable desde CLI</a:t>
            </a:r>
          </a:p>
        </p:txBody>
      </p:sp>
    </p:spTree>
    <p:extLst>
      <p:ext uri="{BB962C8B-B14F-4D97-AF65-F5344CB8AC3E}">
        <p14:creationId xmlns:p14="http://schemas.microsoft.com/office/powerpoint/2010/main" val="598839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A6F81-3C96-41D8-AC45-A8866D6B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ETAPA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DE02B-C9D6-4B42-BBCF-5A731B30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Refactorizar sin cambiar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CE5E2-115E-4C6C-9BD4-730086B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7CEE3-DCEA-40F0-8ACC-70E051A9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811F3-2ADB-4298-BF17-90EDA1E4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5A47E-BBAB-4B2E-A29B-F978BB34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03AFD-4036-44EA-BC13-956BA115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96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8A1E8-212D-48D5-AC0A-9853D744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Refactorización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79294-39E7-45EB-9CDB-407F179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767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Reorganizar la estructura interna del código sin modificar su funcionalidad observable.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C50B2-B2A3-43F3-99A0-A57AE13F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EC1C0-4DF8-4F49-8B05-DF7A445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ADA7A-E9BD-4141-8657-1B3F1C2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1. Detectar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A7B6C-53AB-450F-91D7-3F265B6D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Código repetido, funciones extensas, constantes dispersas y responsabilidades mezcladas.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A7AE8-08B2-4E23-83B6-B00D33E3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7DC14-2231-4B7B-9519-C557C02A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010E9-9180-4725-A6FE-F2056FA3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0040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FA6A2-1273-46B8-B749-4C53EBC8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A9BB0-2018-482B-898B-1DADBD16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2. Transformar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3518B-FE30-4A39-A05F-066248DC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576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Extraer métodos y clases, mover responsabilidades y centralizar configuración.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0ED0B-1475-4E59-815C-62BCEF1C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E24F6-56A4-4744-832E-1EDCB343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261E2-6F4F-4945-9746-2CC359FC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33337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2C02E-DF56-430F-A05B-133A410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C374D-9DB3-4250-8185-CD35CAC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3. Verificar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1AC50-2FDE-442F-802D-A3C3BE9B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576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Correr pruebas de regresión para comprobar que las alertas continúan siendo las mismas.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8F76C-A77A-4E22-B817-8CEF9C9C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919A2-C614-47E8-BCE0-755A3C9C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8775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7B973-4ADA-478E-B794-8AC4FE5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REFACTORIZACIONES APLICADAS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77772-C666-4D61-A41B-4103DA84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Cuatro cambios concretos en 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F00D1-F17C-46F8-A702-BD7FCDF0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42CD4-DCB8-4BE8-8FB6-2498FA82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66162-70CD-4E50-93DD-A44966E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645EA-5954-4EB3-A970-D24F8B68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17F29-6F07-4AE4-8FF9-3ED0A9D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5105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EFFB5-4DF5-4584-B94C-BC3CF3E4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1E9DC-3353-422B-A4F2-2F9510AB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Extract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02BF4-CC60-462A-8A56-A9BA1765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EstadoDeteccionUsuario encapsula colas, contadores y alertas emitidas. La detección deja de depender de una lista completa.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FE309-DE24-4587-ACFD-04375632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38172-128A-4294-A05D-717500E1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028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E5593-BC16-40A3-BE48-12DF98D3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52600"/>
            <a:ext cx="5562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664BE-9974-4F48-B212-7CDE924A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543E2-A6C0-4A67-857A-5ADB3B02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518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Extract Method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C4DA6-6F16-4C94-B4C3-48DB9AE8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_agregar_datos_generados concentra argumentos comunes; _guardar_filas_csv y _cargar_pyplot eliminan lógica repetida.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EB6CF-8252-4C4C-8802-4EF3A23A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240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A5B87-6DA0-412E-8F2B-A0011994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28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2D73E-15B4-4580-B458-9B50A375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5105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33123-D7C6-4020-B16D-98C1FFD4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6310E-F5A2-4E0C-BEE0-DB2AB5D1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Encapsulate Configuration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75EFF-7FA3-45D3-8BDD-D747463A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ConfiguracionDeteccion reúne ventanas, mínimos y límites en un dataclass inmutable y fácil de reemplazar en pruebas.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6B653-ED36-4B3C-B19B-B730D81D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386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42BFD-890F-44B6-BCFD-64407998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60448-EB38-4F17-9AAD-DC3F5C2E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5562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859F02-1A30-42B1-A6C6-CAA3681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45D999-9F8C-4B72-A42B-0F58ACFA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518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Remove Duplication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CCC261-1FF8-4EF9-8B0C-90F21FF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5181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escritura CSV y la configuración de gráficos tienen un único punto de mantenimiento: se aplica DRY.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A28B1E-8568-4E00-BF61-7D46D7D0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0386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204569-618E-4A42-8A5D-82EF86AA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5555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002F90-4736-4684-9527-74C9C952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21878-D33D-429E-9531-C078238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La lógica ahora está separada por responsabilidad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F8524-815F-4456-8B9C-B01069C1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24A55-E338-4893-A0A9-85C5CB8F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12775-4842-4B49-B4C8-60F46018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DE7E7-3C1C-4C4A-8509-AFEBCCD8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FFD52-3452-4D10-BF1F-98FB51C8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95481-F461-4490-AE0E-A09B40A1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26E88-D3EE-4C2A-B4BA-07989433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1181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9C307-C1A8-485F-8423-526507C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6690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DOMINIO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1260F-1906-4D92-A404-45B221AC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809750"/>
            <a:ext cx="1066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274A0-E86F-41CA-966E-3CE3A4AE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8669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SALIDA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BA28C-D50E-433C-8E33-6C81A5BE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762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634F5-3F84-42F1-A210-443E1A0F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6B2DD-52BB-4E4A-ACA5-6D0E6FA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main.py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28979-8A2B-4632-A55C-ED0121EE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CLI y coordinación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BFE5B-834C-4729-8C7C-BC88EFB9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76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89630-CFD4-4FB8-936A-C3EB089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EB54D-14EE-4360-902B-19C69D58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CFAA4-E586-4FF7-B4DA-2DED603E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05050"/>
            <a:ext cx="3143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A3003-95A0-4F93-A929-6FE52141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74D82-7716-4069-80ED-59F81324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generador.py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8C3B9-E2C3-44FE-9C37-DBFD2422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2762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Transacciones con yield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5F954-ED98-48C9-8B46-4BA9ACA0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24FB7-5606-4C1F-93F4-691E880E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217E63-8C0E-4142-82A0-7964ED08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A24D4-D63B-4368-9B09-D4F6F330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543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F0C900-B58A-4EEC-AE90-F6207CB8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955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96B7A-B932-41A8-924A-E74E319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archivos.py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FF944B-34CC-4ADA-90E0-63CFF88D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CSV, buffer y batching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83805-521E-4690-BDFB-C047031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765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CC615-F32F-4425-BAA3-F13296CA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CE822-E49D-497C-A04B-5C602F88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76650"/>
            <a:ext cx="28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9F2746-213A-47AB-833D-3B95B0FA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95750"/>
            <a:ext cx="3714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F8BBA1-2F52-47FF-9E80-E3BA6824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86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6D7ACD-7A19-4457-BCC6-B4127AE7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148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detectores.py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D402FA-F8DE-42D0-B0A5-212CA9D7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Estado por usuario + reglas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37D118-A580-4DB2-B765-6C58AA5D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883459-5610-4479-9D83-0463B769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0F9D80-63C3-4B9C-B4D3-6AF3B969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95750"/>
            <a:ext cx="4667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B55535-61A9-48C1-9F61-4358BEC5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29DA1F-9C5D-467E-8B50-074A9BA9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148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configuracion.py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6E2ED9-C299-41BE-A312-144DEA3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530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Umbrales centralizados e inmutables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CB446C-40DD-4038-839E-CE014BFD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267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D7A78F-2E53-4FBE-BEC4-0DD409B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0B6699-80DA-4A38-B33E-2089100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Capas transversales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7A0DCC-BEF3-4E1A-8D50-2BE5D41E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14975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27A8EE-BBBF-4AAC-8F20-D73EE71B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72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pytest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E30BB1-353C-4543-BC1A-A05879DA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14975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3222E5-5091-4741-8D0E-3C7BE6EE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72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flake8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AE6327-5CC4-42C7-8062-EF08519E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14975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238883-3A5A-46A4-9048-72BFA6C3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72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Sphinx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430104-76A6-4A46-BE4A-B436017D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14975"/>
            <a:ext cx="10287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A62375-E9D3-4440-97FC-474662D2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721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psutil</a:t>
            </a:r>
          </a:p>
        </p:txBody>
      </p:sp>
    </p:spTree>
    <p:extLst>
      <p:ext uri="{BB962C8B-B14F-4D97-AF65-F5344CB8AC3E}">
        <p14:creationId xmlns:p14="http://schemas.microsoft.com/office/powerpoint/2010/main" val="1995807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94855-9389-467C-A7B3-2E3C6CDD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CÓDIGO REDUNDANTE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3FB92-E148-4AF3-8BC3-F632E099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Antes y después: menos repetición, más intención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23E43-0A15-4822-991B-0D2BD21D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9475D-4D18-4905-B5C1-ADA023A5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90E38-128B-4516-9841-260FC046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F7149-2E2E-4EB3-8B5D-9B4C2C64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68DFE-E16E-459F-9133-CF09436A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ANTES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B48A7-69C0-46FB-8D38-FC8C9A35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DESPUÉS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64E89-D660-4256-9974-0FD72A03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01015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0EFFA-B669-4E30-9C6E-8B4CDCA2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591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demo.add_argument(--transacciones)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benchmark.add_argument(--transacciones)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perfilado.add_argument(--transacciones)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# misma definición en cada comando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04A58-E77F-4614-96B3-51197511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52578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B63A2-45E7-4326-9C74-4D506302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838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def _agregar_datos_generados(parser):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    parser.add_argument(--transacciones)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    parser.add_argument(--semilla)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# una sola fuente de verdad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543BE-BA8E-4C5D-BBDA-2D5A803C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08966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C3A2D-482A-4AC6-A495-C262ADD7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1043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Resultado: </a:t>
            </a: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si cambia un argumento, un formato CSV o la configuración de Matplotlib, se modifica un solo lugar.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Impacto: </a:t>
            </a: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menos inconsistencias y menor costo de mantenimiento; la interfaz pública se conserva.</a:t>
            </a:r>
          </a:p>
        </p:txBody>
      </p:sp>
    </p:spTree>
    <p:extLst>
      <p:ext uri="{BB962C8B-B14F-4D97-AF65-F5344CB8AC3E}">
        <p14:creationId xmlns:p14="http://schemas.microsoft.com/office/powerpoint/2010/main" val="2082401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879533-5920-4362-B065-E0638E48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OPTIMIZACIÓN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AC13A-7C92-456D-9389-915D67FA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cProfile + SnakeViz: encontrar dónde se va el tiempo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83855-7BEB-46E6-9DA7-DE62EA74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F766D-60BB-4915-BF79-D50DDA43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361DE-C773-4519-982F-018468B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5C1B9-B754-4E2B-BFE3-DD801F2F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BC1A0-C1E0-4744-8B88-77E10A6E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02127-BFF6-4A67-936B-1FA867B3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643DC-9B8F-4DE2-A827-C43B23F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1. Medir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BAC01-C18F-4B70-AA18-C81EA401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cProfile ejecuta la versión inicial y la optimizada.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BC73E-504E-494F-A6DE-2C35B52A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38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5C4B4-B18B-4EF2-8306-FB7EE0E8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8AA4A-C915-4E04-A171-13FA9F95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8CC8D-A85D-4B4E-83B1-AC1E927E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669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56B78-7BF0-4410-ACCA-845530CD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57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D8E15-BA94-495F-B6B6-D11D170F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86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2. Guardar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EFD09-15EB-4CC4-9313-DB25F03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El proyecto genera archivos .prof reproducibles.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AF5FF-C395-4BB5-8E24-3A8095D3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38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89C56-5C5B-4DAB-B510-9D375BFB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8C6C9-AC76-45D4-84FF-1B5920C8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2A064-E0AE-4B46-8159-81315DB7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8C76E-DD79-4305-A20D-EDA46DCC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3843F-45C5-44CB-A45C-254A76BB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3. Visualizar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DD448-ED5E-4325-83EA-2CDD61DC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SnakeViz convierte el perfil en vistas interactivas.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9D8E3-05F3-4621-83C6-A576715A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7A5DF-D077-4BCE-8342-B23D6C6A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0B1E05-09F0-40E2-A528-E98EEB36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95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B80FD2-BC7B-477E-BED0-9AF9BD1C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2095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40EDF-A864-4E8D-881C-DEE27AA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574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D4083E-41EC-46F5-863A-47DC66B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86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4. Decidir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C6231-8AA0-40F9-A562-D4A15A70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Se prioriza el cuello de botella real.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46EA9-5A75-450D-A17B-E34A217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383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D32ABF-A0C8-4054-BCA0-BF682555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143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332B5E-2D50-4074-BA6D-BA2B2DEB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666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6699F8-0309-4474-905A-87C89612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895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4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2F2610-7FE7-4919-85F3-4D0FDBA6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COMANDOS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3AE1CF-1D8F-43BC-A765-90AFD8AE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624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main.py perfilado --transacciones 5000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-m snakeviz resultados/perfilado_optimizado.prof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F6E791-A2D8-4668-A9BD-569E511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4000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6ED904-095D-4DD3-B257-99E5DE33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29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¿Por qué SnakeViz?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A14B67-A6C7-4CCB-9641-11C0A1CB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910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Aprovecha los .prof existentes, es visual y requiere menos configuración que incorporar un profiler nuevo.</a:t>
            </a:r>
          </a:p>
        </p:txBody>
      </p:sp>
    </p:spTree>
    <p:extLst>
      <p:ext uri="{BB962C8B-B14F-4D97-AF65-F5344CB8AC3E}">
        <p14:creationId xmlns:p14="http://schemas.microsoft.com/office/powerpoint/2010/main" val="10363626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0551A-6FA2-40F8-9804-AA195489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HERRAMIENTA GENERAL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3CCC3-C1D0-426B-999F-4A1B253C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psutil: observabilidad simple para un proceso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F7B98-4586-4CF6-9859-6A8C8B3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AA99E-7E78-4857-9140-50DCEBFC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5F329-FA02-4E37-BF0C-89A111A3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F2271-A6E6-43E4-A47B-C9B8864C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B978A-BDF3-4766-B88E-FB7B5C8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44386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ED833-2885-44B7-9CB7-21FCB10C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medir_recursos()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4CF18-93AE-41E5-A3AC-B268E2C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F5DD0-1163-4775-8B08-D5097B47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4A3D1-79B0-4EAE-91EB-BAF8132D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memoria máxima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043E8-CE85-453E-A53F-628096E0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2E533-5699-4F31-968E-21F83425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CPU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0499F-6C45-42FA-81C7-32B41CEF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6232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segundos usados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3F57A-899C-4ECF-A35A-72F13CD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FC113-3442-4838-8205-EDBD74B8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I/O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3AD9C-D223-4908-BB26-26115DFA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3867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bytes leídos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5D0FC-F9F0-43EE-80D8-FBE1D2ED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41BBD-DAC6-4DBD-B8DC-50915793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CC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C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CC5C"/>
                </a:solidFill>
                <a:latin typeface="Helvetica Neue"/>
                <a:ea typeface="Helvetica Neue"/>
                <a:cs typeface="Helvetica Neue"/>
              </a:rPr>
              <a:t>I/O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7E776-722F-45CD-ACD7-39CB799C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38675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bytes escritos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906F9-D1EF-4650-9DEE-5F6E8A06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5737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Por qué no New Relic o Elastic APM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7A2AE-8EFB-4FA7-8003-9B87878A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5715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4" indent="-12">
              <a:lnSpc>
                <a:spcPct val="115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El proyecto es una aplicación CLI/batch local, no un servicio desplegado.</a:t>
            </a:r>
          </a:p>
          <a:p xmlns:a="http://schemas.openxmlformats.org/drawingml/2006/main">
            <a:pPr marL="24" indent="-12">
              <a:lnSpc>
                <a:spcPct val="115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psutil mide exactamente los recursos solicitados sin servidor, agente ni cuenta externa.</a:t>
            </a:r>
          </a:p>
          <a:p xmlns:a="http://schemas.openxmlformats.org/drawingml/2006/main">
            <a:pPr marL="24" indent="-12">
              <a:lnSpc>
                <a:spcPct val="115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medición queda integrada en analizar-archivo y se imprime al finalizar.</a:t>
            </a:r>
          </a:p>
          <a:p xmlns:a="http://schemas.openxmlformats.org/drawingml/2006/main">
            <a:pPr marL="24" indent="-12">
              <a:lnSpc>
                <a:spcPct val="115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Trade-off: no ofrece trazas distribuidas ni paneles históricos.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8205A-0422-48EB-9DA1-4DB4133A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29146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00698-6B44-4C37-A655-522F710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2920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Elección proporcional al alcance</a:t>
            </a:r>
          </a:p>
        </p:txBody>
      </p:sp>
    </p:spTree>
    <p:extLst>
      <p:ext uri="{BB962C8B-B14F-4D97-AF65-F5344CB8AC3E}">
        <p14:creationId xmlns:p14="http://schemas.microsoft.com/office/powerpoint/2010/main" val="8024237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3D2DF5-A33A-46AB-AA45-C67D4611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ARCHIVOS GRANDES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E80F3-7761-495A-9279-9B1E75BC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Dos pasadas, memoria acotada y estado correcto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0C0A6-5F85-4738-B00B-995963BA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3F3AC-219A-45F8-AD37-CD20A133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960E3-07B0-4924-BFE9-830C8276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5D072-9477-4FE3-BC3C-45FA740D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516F7-8359-4421-98A8-5ACF8BE4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7540E-4833-41EF-8734-5087E1E8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F0304-7318-480D-9BEB-D0CCF2C8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CSV ordenado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E5DC6-6174-4759-9DEF-E7A72ED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Entrada leída línea por línea.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6D2EB-D6C1-41EE-8EBE-C0D5171F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28B57-1489-4C58-BFAD-0E8EED04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4E396-14F8-4BCF-95C5-E72253B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3AAD2-4D73-4427-A8F0-0D2EF04F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F7D0E-DA6D-4119-854D-44D4B91C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83D98-9503-4503-B3FE-8D0E34DE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28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Pasada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F759B-8BA2-4053-8B8E-57FC2E66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67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Promedio y varianza incremental por usuario.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BF96A-757D-4748-A2B7-C257F5C6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61520-D8EE-4D7F-BCAD-EEF6B5D2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23710-F18D-455E-B6B6-20DBF9CB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3657A-6EC4-4B85-AAFF-C4F0AA5E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5CA6C-7F9C-4A4F-AB8F-D2E8753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A86FA-1B4D-4BA3-8A80-C9FACC0C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Pasada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A93C5-CF52-4EAB-91A1-623A82C4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67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Reglas por lotes con ventanas persistentes.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4511C8-222C-40FF-9417-3AFB75E2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E23D0-7D99-4621-A235-62FE125B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686021-3258-439D-8BA9-87C6FAF0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52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0DFD0-AB38-4865-9CFF-FD20FA41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0890CF-AE24-43DA-86B0-A8E8C237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0BB078-D26C-4BC8-A66D-F6250498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Alertas 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6FDD77-0860-4325-AE04-3F0B504A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Salida progresiva.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652A45-8EDD-4EE3-AC3C-C6DD365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0D212-178C-4E16-B028-6FEF451D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C2FE6D-BABE-44BC-AF7C-514EDEE3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108966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3EBA3E-B2C6-48BB-86E2-17D2037D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1036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clave de corrección: </a:t>
            </a: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EstadoDeteccionUsuario no se reinicia al cambiar de lote.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Consecuencia: </a:t>
            </a: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una ráfaga que empieza al final de un lote y termina al inicio del siguiente sigue siendo detectada.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Memoria: </a:t>
            </a:r>
            <a:r>
              <a:rPr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no se carga el archivo completo; sólo se conservan perfiles, estados y el lote actual.</a:t>
            </a:r>
          </a:p>
        </p:txBody>
      </p:sp>
    </p:spTree>
    <p:extLst>
      <p:ext uri="{BB962C8B-B14F-4D97-AF65-F5344CB8AC3E}">
        <p14:creationId xmlns:p14="http://schemas.microsoft.com/office/powerpoint/2010/main" val="46759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054C98-76A7-4A88-91D8-45ABE6B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E/S Y CONCURRENCIA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48574-1C32-4754-B36B-48C27D9C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Buffer, batching y paralelismo: cada técnica tiene un 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098FB-973D-45DF-97D6-4827F39D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86027-9219-4B3F-9004-CA9CA50E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D61D3-F232-490B-9B25-555686E9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468E5-75A9-4B2F-B520-8D68F7D2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312D2-C4BA-4186-8EA9-1C9D91FA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22CE2-9503-4697-843A-ECD81949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C4E94-80FC-470C-AEB7-45920BF7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Buffer · 1 MB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8983A-F105-41FF-A2A7-9E21698F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95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Reduce llamadas pequeñas al sistema operativo durante lectura y escritura. Se aplica al abrir los CSV.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659B2-B1F1-4250-8135-A71B5EBA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61749-3E64-46FD-A800-10CD0978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6F548-DF28-4EC7-8D11-AE571DA0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17982-9CEA-42CC-82C2-E0873EEC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FCF62-0CF3-464F-8CCF-85FBD4A1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Batching · 10.000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35CC2-676E-466F-9349-26F4B19B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67000"/>
            <a:ext cx="295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Agrupa un número limitado de transacciones. El tamaño se puede cambiar con --lote.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37FC1-4E9F-4ABA-9668-39AE3D75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7888C-3A72-45C7-B933-C070BB60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8F887-02F2-49AB-887F-9D710441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33375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967EB-15EC-4EBD-8F66-84112C2F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36F93-4C3F-48C0-9876-7E595573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Paralelismo · por usuario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5459F-B666-4424-A556-D68E341D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95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ProcessPoolExecutor reparte grupos independientes. No se dividen ventanas temporales arbitrariamente.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CDE72-EA76-4E9E-BD45-F893C7A6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31A98-70BF-4175-8EBA-E77CE376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1CD72-25AB-4C3E-A122-C0D85177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896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3F6AA-AB9C-401C-A4EC-CC3E49F2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895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4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A4310-7205-4184-A2AA-4A33D245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EJEMPLO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3EFFB-407E-4006-955E-86F4046C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main.py generar-archivo --transacciones 100000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main.py analizar-archivo datos/transacciones.csv --lote 10000</a:t>
            </a:r>
          </a:p>
        </p:txBody>
      </p:sp>
    </p:spTree>
    <p:extLst>
      <p:ext uri="{BB962C8B-B14F-4D97-AF65-F5344CB8AC3E}">
        <p14:creationId xmlns:p14="http://schemas.microsoft.com/office/powerpoint/2010/main" val="14044782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A6EC98-F58C-4D1E-866A-1F30A6A1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MANTENIBILIDAD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7505A-8062-48F7-9E99-EF25CE84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Código que explica su intención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AE506-DC91-4428-B927-A23E69DD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B114A-FFCA-452C-B82E-BDC138EE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B87EA-21CF-41CC-8F6E-4651EB53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5A1D0-F152-4BA0-9F42-3A44D65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937C2-07CF-4428-9791-0A82B36D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3B120-3B7C-4D57-8E42-21E1E8A7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ADD89-CCE8-49CA-A0A5-9CE484FD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Nombres descriptivos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6A731-14D4-4619-B2A6-4DBBF3A2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tamanio_lote, memoria_rss_maxima_mb, ventana_repeticion y cantidad_ubicaciones reemplazan abreviaturas ambiguas.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12CEB-7026-4265-ACBB-8A39DBE0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9746E-D789-48C2-85BF-1A4B7EE4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9CB26-8B37-4079-BEA8-DA288E80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31A04-CCA9-43A3-BAC3-82F659D5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03DA8-EC4A-4E3E-BDB3-6B025E99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Docstrings útiles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42D80-0C2D-464A-A6C5-3C3BE509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6700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Los módulos, clases y funciones públicas describen propósito, entradas, salida y restricciones relevantes.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C47D2-6732-4FDB-8213-20666D9C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7FCCF-7192-4004-9DCC-B7A6105C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50473-2C1C-4F46-8837-D313280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C10D0-BF70-4A89-B68B-EEA9BC76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115ED-809D-4ABD-98B0-2014DEF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Organización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22228-8699-4793-90FA-8C73668F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CLI, dominio, archivos, monitoreo, pruebas y documentación viven en módulos separados.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DBCE56-15AA-4C7E-8E63-CEBA55D4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9812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3771A-DFBE-450B-8C07-247D2127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1817E-E2F9-4FD9-8F32-95CB50B6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0896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E3C393-0D00-41F1-B635-86CEDF37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PEP 8 como regla automática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D8406-FEB1-4382-95BE-D815EB60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flake8 revisa formato, nombres, imports y errores frecuentes. Resultado actual: sin observaciones.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5A789-ACE0-4654-BEDB-41555325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05325"/>
            <a:ext cx="2571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4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A61C9B-400D-4A5F-816C-6C67DCEA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624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python -m flake8 .</a:t>
            </a:r>
          </a:p>
        </p:txBody>
      </p:sp>
    </p:spTree>
    <p:extLst>
      <p:ext uri="{BB962C8B-B14F-4D97-AF65-F5344CB8AC3E}">
        <p14:creationId xmlns:p14="http://schemas.microsoft.com/office/powerpoint/2010/main" val="8788138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2F78B7-D76C-453D-86C1-BD390B72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DOCUMENTACIÓN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13C44-2B0D-4E47-90FC-2B418A60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Sphinx convierte docstrings en documentación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661DB-89B7-4ADB-94E4-F4ED8B1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79057-BED5-4B81-B08D-88551145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1E5EB-C9D0-47E0-B3ED-E9A663D4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450AD-FE57-499D-AC24-F5EADC0F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44934-A718-40AA-BEC4-6185B3D9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686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FE72C-AE1F-4402-ACF2-68402694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CE397-84C7-4C0F-BD5F-5C998078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Código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2D8A3-D766-4C2B-B34E-2C4F82AF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Docstrings junto a la implementación.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DC096-7D5A-4BD1-A76D-30C8E4F5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4CFD1-5B42-4C44-AFFA-E3F8593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A5C45-35E1-4013-AF21-8DCC1CE6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4BC42-F6AB-4B06-B2EE-4EB24BF6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85950"/>
            <a:ext cx="2686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96C0D-5997-49D9-9993-DA95296A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764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6177A-466C-43DA-8F23-4D92AE19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05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Autodoc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837D8-3A9F-46A2-AF4D-F5A12BCA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Importa firmas y descripciones.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3BBB9-71EE-4086-9ED0-E6A88021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5B419-2389-447E-8510-1FC367C6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A6409-8290-412A-8499-90AC1111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BC481-7F9D-4B43-A9BD-5C185954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85950"/>
            <a:ext cx="26860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82F2B-1DBB-4FCE-A3C5-9336B951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764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12141-A238-4715-B0F6-FBC03970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050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Sphinx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D0B4D-A7AD-4DE8-849E-1F7B1DB7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4320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Organiza guías y referencia API.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B43E9-44C5-4168-A3C0-653A647A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F5E32D-B60B-4561-A671-1AE0BA54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6792B5-7B51-437B-AD1C-1715A2EA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03573-171B-4BB9-A8B7-C72115E1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85950"/>
            <a:ext cx="1066800" cy="16192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B61C2F-357F-4B08-9C4E-632E5085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7645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CDEBEC-44AE-4CC9-919A-7D09642B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3050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HTML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8E2AC-53FA-4BEE-8965-19EE0A45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432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Sitio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4C0F29-F9A3-4FF5-91CC-4128085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05740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5DA4F7-0A4E-461C-B447-EC3741BB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162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52CA04-88AA-4CB3-B939-56B63E82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723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570049-0136-4E42-A727-B596A6B3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895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14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375E97-3166-4436-9961-678D94B1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COMANDO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B3E823-825B-42C0-B7C6-6A217BE7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681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-m sphinx -b html docs docs/_build/html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154DB2-ABF4-4A9E-8DCD-63B70E7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3390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EECA91-5F7E-45DC-804D-41F4E86A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Contenido generado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5AA2AC-D901-4137-97C7-8357B054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Uso · API · refactorización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62E226-4BCF-45D1-9F6E-AA88E9A9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73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Ventaja: si cambia una firma o un docstring, la próxima compilación actualiza la referencia.</a:t>
            </a:r>
          </a:p>
        </p:txBody>
      </p:sp>
    </p:spTree>
    <p:extLst>
      <p:ext uri="{BB962C8B-B14F-4D97-AF65-F5344CB8AC3E}">
        <p14:creationId xmlns:p14="http://schemas.microsoft.com/office/powerpoint/2010/main" val="1226456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AE1D6-492B-429E-8625-B0BD3943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7B4B0-42F7-4054-87C3-8FB15B26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flake8 como alternativa liviana a SonarQube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CB899-E7AE-4C53-AD35-BF632B5F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A7831-AF29-4180-B515-89CCFE33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63A46-1F7C-4086-A39E-2E54E1DE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6D910-DBC0-49BD-88F7-BF573894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8959C-48FA-4DB7-AB8D-105FFD5A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433387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3D269-A8F2-463D-B31C-D1745FF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SonarQube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7A03F-48DD-4506-98CE-AC60AA38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371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Panel central y métricas históricas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Bugs, vulnerabilidades y code smells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Muy útil en equipos y CI/CD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Requiere más infraestructura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94B1C-418B-467B-BDE6-9B3C1AC8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Referencia del enunciado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C9AA9-7A95-4474-B629-9A4638C4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19275"/>
            <a:ext cx="6276975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9FF5C-1789-451D-AAF9-D4EBC2C4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flake8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0651D-F674-4D8A-9710-730D197B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57475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Chequeo local inmediato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PEP 8, errores sintácticos e imports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Sin servicio externo</a:t>
            </a:r>
          </a:p>
          <a:p xmlns:a="http://schemas.openxmlformats.org/drawingml/2006/main">
            <a:pPr marL="24" indent="-12">
              <a:lnSpc>
                <a:spcPct val="116000"/>
              </a:lnSpc>
              <a:buNone/>
              <a:def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E4EDF4"/>
                </a:solidFill>
                <a:latin typeface="Helvetica Neue"/>
                <a:ea typeface="Helvetica Neue"/>
                <a:cs typeface="Helvetica Neue"/>
              </a:rPr>
              <a:t>Se integra con un solo comando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6C386-E35F-4CA3-8DFB-566CC740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1965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4DF7D-AFF5-481B-8F3E-B619C069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76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 observaciones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FF833-7CC5-4E9A-9762-FEBB3314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Criterio de elección: aplicar una herramienta simple y reproducible para el alcance del proyecto.</a:t>
            </a:r>
          </a:p>
        </p:txBody>
      </p:sp>
    </p:spTree>
    <p:extLst>
      <p:ext uri="{BB962C8B-B14F-4D97-AF65-F5344CB8AC3E}">
        <p14:creationId xmlns:p14="http://schemas.microsoft.com/office/powerpoint/2010/main" val="1374459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30DEFF-E3D5-448C-A351-EBE672FD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TESTING Y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9D877-48F3-4E59-855E-A69C10C1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pytest protege la refactorización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E18C9-DDD8-491E-852F-E2CC3AD4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012AF-18A2-4DEB-8356-A2A5159B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C9A10-1E84-4345-BF14-D8AFA30A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5A43C-5B98-49E7-B5AF-7BF8A81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B794C-FFE4-4C64-BF08-3964BD34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0C827-B74F-43BE-A6FB-18755E6B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0A98A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BB3FA-562C-46C9-8A90-F66192F3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tests aprobados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8D919-E87A-4850-8EE9-B8B4A923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0975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23BB5-E704-428F-8CC5-1EB97C95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CBEC2-62A0-4FFD-BBEF-23EC0CF2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479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cobertura del núcleo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8CA4D-0866-45DD-A5A3-C0FD13E7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E03E8-C923-446F-915F-A257515B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62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6757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52AA4-13B5-4203-A872-D63E6A1B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4792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módulos de pruebas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CFE05-5508-40D6-A73D-11E5A689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524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6F20B-B8F0-4385-B043-C731E8D0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pytest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2B40E-D30B-48F3-B372-FDEAC58A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479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framework utilizado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A31D2-E6A1-4AC2-91F7-CA56EE1E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33337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55429-CCB9-41D2-B8DA-87ADDD11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53231-DD44-4E6C-A5EF-D167A975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Unitarias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AE95A-9F2F-4D47-89EE-B3A0AD7B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Reglas del detector y acumuladores se prueban de forma aislada.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59435-394C-4978-9229-7B8AC1B7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F34B18-047E-4055-9F76-AE7A391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09DA4-C511-4A5F-9C2A-EAC9AE9B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00400"/>
            <a:ext cx="33337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748D7-2466-4D36-A811-2F71998A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CFDDD8-E18E-43E5-AA54-7B6C6C8A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Integración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978ED-AB8D-4E7B-A8C6-C1A2AD9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576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Generar, leer, procesar y escribir CSV se valida como flujo completo.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29FFC-6F8A-4CAB-AC67-66622194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6CEFDA-7663-46FE-B920-9A96DB6C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8D37A-7349-4F61-B032-9BFD098B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33337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C12C43-5EF8-4815-86A7-ABBFAE05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400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95BCCB-3C3D-404B-978D-3C85BA9F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Regresión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F55669-6951-42A6-93B7-F37838A3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576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La detección en streaming produce las mismas alertas que la versión en memoria.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61DB11-7F86-46BC-8504-287836FE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718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A94C66-FFF6-421B-A39B-2A4BC0F8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476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C038EC-BBC6-4ADD-A0C3-C3A28160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3F3CB0-8C2A-4A04-8283-BEB6EFA5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-m pytest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0F7"/>
                </a:solidFill>
                <a:latin typeface="Helvetica Neue"/>
                <a:ea typeface="Helvetica Neue"/>
                <a:cs typeface="Helvetica Neue"/>
              </a:rPr>
              <a:t>python -m pytest --cov=archivos --cov=configuracion --cov=detectores</a:t>
            </a:r>
          </a:p>
        </p:txBody>
      </p:sp>
    </p:spTree>
    <p:extLst>
      <p:ext uri="{BB962C8B-B14F-4D97-AF65-F5344CB8AC3E}">
        <p14:creationId xmlns:p14="http://schemas.microsoft.com/office/powerpoint/2010/main" val="718941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2C7C0A-A30B-4C2A-8A6F-1E2915BE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2B348-A520-4123-9632-0D0B97D2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Cada tema del enunciado quedó aplicado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44A7E-4647-44E6-8768-3FB99623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D9D18-776F-47ED-870B-54F375A1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37CA6-D5A5-4291-A4CF-D7A88D87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0808D"/>
                </a:solidFill>
                <a:latin typeface="Helvetica Neue"/>
                <a:ea typeface="Helvetica Neue"/>
                <a:cs typeface="Helvetica Neue"/>
              </a:rPr>
              <a:t>Programación Eficiente · Parcial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01427-056F-4F44-A489-D3639AA2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055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6746E-9658-418B-922A-3B53C999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51FCC-63A5-4E9D-A23F-AFFA4F94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42007-36D1-4AEF-A558-405B0DD6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811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Refactorización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05C75-6538-4677-8A53-2814AC03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811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EstadoDeteccionUsuario · ConfiguracionDeteccion · DRY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5D383-9E73-452C-B777-D4F6EC0D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F2BAC-0B5E-4007-9E2E-48A5342A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CE8B7-2177-4DD8-B511-0E82233D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62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Optimización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4EB70-28A6-4959-A160-C572E17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cProfile + SnakeViz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9455E-622C-42C1-AC5F-072011C8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8F908-152D-4151-9427-95C2095B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D611F-81A4-4B1B-9FCC-B573FD41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Herramienta general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F32A2-63B2-4EAE-AB96-16A9404C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psutil: CPU · RSS · E/S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B07B7-05C9-47BF-B1D7-E52BB956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30B21-B8AF-4253-BA0C-BE1B825F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A59CD-2C30-439C-A881-0205D7D5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Archivos grandes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117B6-E44A-4A9B-98EA-EEA5D231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yield · buffer 1 MB · batching · estado entre lotes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EB0FC-F81C-4362-891A-A8DECA69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1D03B-5BBC-49CD-8786-97E48F24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81A84-7E32-4A3A-8012-8B6CE5D1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Mantenibilidad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5CD0C-525A-4545-9FD2-E72C8B55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052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nombres · docstrings · módulos · PEP 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2F0B57-F766-4BC4-8D2E-7F3F1EDB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D4A82C-DA58-4B23-9036-6B8B9270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C61006-5C47-4789-9E0F-5B82E661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Documentación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06EF5-37F1-41C0-91F2-D84E9A33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Sphinx + autodoc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818F0C-66A6-46C2-AF84-D444FA97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72075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F262A9-F6AF-4068-B1D6-2C0E1886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75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8AFF7B-1F1E-4909-9652-CDD9E557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67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Calidad y testing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253949-49D9-40D0-81A4-0F30D80C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673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4515C"/>
                </a:solidFill>
                <a:latin typeface="Helvetica Neue"/>
                <a:ea typeface="Helvetica Neue"/>
                <a:cs typeface="Helvetica Neue"/>
              </a:rPr>
              <a:t>flake8 · pytest · pytest-cov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B663DB-E16B-4EE5-ACFE-AC1F90D0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8966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0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B1DC92-DEF3-40B1-B601-CFA59729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1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Resultado: mismo detector, mejor preparado para cambiar, medir y escalar.</a:t>
            </a:r>
          </a:p>
        </p:txBody>
      </p:sp>
    </p:spTree>
    <p:extLst>
      <p:ext uri="{BB962C8B-B14F-4D97-AF65-F5344CB8AC3E}">
        <p14:creationId xmlns:p14="http://schemas.microsoft.com/office/powerpoint/2010/main" val="309221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2026-10-16T18:50:05.0350000Z</dcterms:created>
  <dcterms:modified xsi:type="dcterms:W3CDTF">2026-10-16T18:50:05.0350000Z</dcterms:modified>
</coreProperties>
</file>