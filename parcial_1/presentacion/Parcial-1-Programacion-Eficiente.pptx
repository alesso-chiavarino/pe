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b4d51b6f604e86" /><Relationship Type="http://schemas.openxmlformats.org/officeDocument/2006/relationships/extended-properties" Target="/docProps/app.xml" Id="Ree4bf111de224836" /><Relationship Type="http://schemas.openxmlformats.org/officeDocument/2006/relationships/officeDocument" Target="/ppt/presentation.xml" Id="R6c77562bfd684a7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7914270c6294352"/>
  </p:sldMasterIdLst>
  <p:notesMasterIdLst>
    <p:notesMasterId xmlns:r="http://schemas.openxmlformats.org/officeDocument/2006/relationships" r:id="R6e861b248cb3463a"/>
  </p:notesMasterIdLst>
  <p:sldIdLst>
    <p:sldId xmlns:r="http://schemas.openxmlformats.org/officeDocument/2006/relationships" id="256" r:id="Re9451d1b2055401c"/>
    <p:sldId xmlns:r="http://schemas.openxmlformats.org/officeDocument/2006/relationships" id="257" r:id="R270d2e2e90a246ef"/>
    <p:sldId xmlns:r="http://schemas.openxmlformats.org/officeDocument/2006/relationships" id="258" r:id="R083340f28bbd45db"/>
    <p:sldId xmlns:r="http://schemas.openxmlformats.org/officeDocument/2006/relationships" id="259" r:id="R43722ab7a2af4162"/>
    <p:sldId xmlns:r="http://schemas.openxmlformats.org/officeDocument/2006/relationships" id="260" r:id="Rf9f65d72c0aa4f8b"/>
    <p:sldId xmlns:r="http://schemas.openxmlformats.org/officeDocument/2006/relationships" id="261" r:id="Rf90af8e2a01640c3"/>
    <p:sldId xmlns:r="http://schemas.openxmlformats.org/officeDocument/2006/relationships" id="262" r:id="R0c6ba0d118f746ba"/>
    <p:sldId xmlns:r="http://schemas.openxmlformats.org/officeDocument/2006/relationships" id="263" r:id="Rfdc612a45dde4732"/>
    <p:sldId xmlns:r="http://schemas.openxmlformats.org/officeDocument/2006/relationships" id="264" r:id="R5b4489ac9cc14e25"/>
    <p:sldId xmlns:r="http://schemas.openxmlformats.org/officeDocument/2006/relationships" id="265" r:id="R999f8a4c92f94974"/>
    <p:sldId xmlns:r="http://schemas.openxmlformats.org/officeDocument/2006/relationships" id="266" r:id="R57eefc473e194c17"/>
    <p:sldId xmlns:r="http://schemas.openxmlformats.org/officeDocument/2006/relationships" id="267" r:id="Rae672ae07c354211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f067954be48d42fe"/>
      <p:bold xmlns:r="http://schemas.openxmlformats.org/officeDocument/2006/relationships" r:id="R4c30e26acb534b74"/>
      <p:italic xmlns:r="http://schemas.openxmlformats.org/officeDocument/2006/relationships" r:id="R88fe962e087c4226"/>
      <p:boldItalic xmlns:r="http://schemas.openxmlformats.org/officeDocument/2006/relationships" r:id="Rc6a06c00600e447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8d8002aa604921" /><Relationship Type="http://schemas.openxmlformats.org/officeDocument/2006/relationships/slideMaster" Target="/ppt/slideMasters/slideMaster1.xml" Id="R47914270c6294352" /><Relationship Type="http://schemas.openxmlformats.org/officeDocument/2006/relationships/notesMaster" Target="/ppt/notesMasters/notesMaster1.xml" Id="R6e861b248cb3463a" /><Relationship Type="http://schemas.openxmlformats.org/officeDocument/2006/relationships/presProps" Target="/ppt/presProps.xml" Id="Rdaae1d9c34ba419c" /><Relationship Type="http://schemas.openxmlformats.org/officeDocument/2006/relationships/viewProps" Target="/ppt/viewProps.xml" Id="Rb5508af45a354477" /><Relationship Type="http://schemas.openxmlformats.org/officeDocument/2006/relationships/tableStyles" Target="/ppt/tableStyles.xml" Id="R897041941f93487d" /><Relationship Type="http://schemas.openxmlformats.org/officeDocument/2006/relationships/font" Target="/ppt/fonts/font.dat" Id="Rf067954be48d42fe" /><Relationship Type="http://schemas.openxmlformats.org/officeDocument/2006/relationships/font" Target="/ppt/fonts/font2.dat" Id="R4c30e26acb534b74" /><Relationship Type="http://schemas.openxmlformats.org/officeDocument/2006/relationships/font" Target="/ppt/fonts/font3.dat" Id="R88fe962e087c4226" /><Relationship Type="http://schemas.openxmlformats.org/officeDocument/2006/relationships/font" Target="/ppt/fonts/font4.dat" Id="Rc6a06c00600e4477" /><Relationship Type="http://schemas.openxmlformats.org/officeDocument/2006/relationships/slide" Target="/ppt/slides/slide1.xml" Id="Re9451d1b2055401c" /><Relationship Type="http://schemas.openxmlformats.org/officeDocument/2006/relationships/slide" Target="/ppt/slides/slide2.xml" Id="R270d2e2e90a246ef" /><Relationship Type="http://schemas.openxmlformats.org/officeDocument/2006/relationships/slide" Target="/ppt/slides/slide3.xml" Id="R083340f28bbd45db" /><Relationship Type="http://schemas.openxmlformats.org/officeDocument/2006/relationships/slide" Target="/ppt/slides/slide4.xml" Id="R43722ab7a2af4162" /><Relationship Type="http://schemas.openxmlformats.org/officeDocument/2006/relationships/slide" Target="/ppt/slides/slide5.xml" Id="Rf9f65d72c0aa4f8b" /><Relationship Type="http://schemas.openxmlformats.org/officeDocument/2006/relationships/slide" Target="/ppt/slides/slide6.xml" Id="Rf90af8e2a01640c3" /><Relationship Type="http://schemas.openxmlformats.org/officeDocument/2006/relationships/slide" Target="/ppt/slides/slide7.xml" Id="R0c6ba0d118f746ba" /><Relationship Type="http://schemas.openxmlformats.org/officeDocument/2006/relationships/slide" Target="/ppt/slides/slide8.xml" Id="Rfdc612a45dde4732" /><Relationship Type="http://schemas.openxmlformats.org/officeDocument/2006/relationships/slide" Target="/ppt/slides/slide9.xml" Id="R5b4489ac9cc14e25" /><Relationship Type="http://schemas.openxmlformats.org/officeDocument/2006/relationships/slide" Target="/ppt/slides/slide10.xml" Id="R999f8a4c92f94974" /><Relationship Type="http://schemas.openxmlformats.org/officeDocument/2006/relationships/slide" Target="/ppt/slides/slide11.xml" Id="R57eefc473e194c17" /><Relationship Type="http://schemas.openxmlformats.org/officeDocument/2006/relationships/slide" Target="/ppt/slides/slide12.xml" Id="Rae672ae07c3542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82a4aae4c54b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783cdac9754153" /><Relationship Type="http://schemas.openxmlformats.org/officeDocument/2006/relationships/notesMaster" Target="/ppt/notesMasters/notesMaster1.xml" Id="R28d5dd737b334e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fa90c9cde14c8c" /><Relationship Type="http://schemas.openxmlformats.org/officeDocument/2006/relationships/notesMaster" Target="/ppt/notesMasters/notesMaster1.xml" Id="R084bdedfb7fd43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7d90a307f84ae2" /><Relationship Type="http://schemas.openxmlformats.org/officeDocument/2006/relationships/notesMaster" Target="/ppt/notesMasters/notesMaster1.xml" Id="R6587a5c5e3b049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cfd3eda005427d" /><Relationship Type="http://schemas.openxmlformats.org/officeDocument/2006/relationships/notesMaster" Target="/ppt/notesMasters/notesMaster1.xml" Id="Rfb868303180a49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ecda20a72c46f6" /><Relationship Type="http://schemas.openxmlformats.org/officeDocument/2006/relationships/notesMaster" Target="/ppt/notesMasters/notesMaster1.xml" Id="R53bf332ffc9b46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05ba806a1145ab" /><Relationship Type="http://schemas.openxmlformats.org/officeDocument/2006/relationships/notesMaster" Target="/ppt/notesMasters/notesMaster1.xml" Id="R6607c6ae54de41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1d4f955bd04227" /><Relationship Type="http://schemas.openxmlformats.org/officeDocument/2006/relationships/notesMaster" Target="/ppt/notesMasters/notesMaster1.xml" Id="Rd848cd34d16d42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9045b403b84417" /><Relationship Type="http://schemas.openxmlformats.org/officeDocument/2006/relationships/notesMaster" Target="/ppt/notesMasters/notesMaster1.xml" Id="R3d48de94130341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011a96aec84252" /><Relationship Type="http://schemas.openxmlformats.org/officeDocument/2006/relationships/notesMaster" Target="/ppt/notesMasters/notesMaster1.xml" Id="R667cd45344da46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f5392bbe2e425a" /><Relationship Type="http://schemas.openxmlformats.org/officeDocument/2006/relationships/notesMaster" Target="/ppt/notesMasters/notesMaster1.xml" Id="R41ff0fed9c774f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a15e8dd0e24861" /><Relationship Type="http://schemas.openxmlformats.org/officeDocument/2006/relationships/notesMaster" Target="/ppt/notesMasters/notesMaster1.xml" Id="R751acf57401c42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f7a14269b444af" /><Relationship Type="http://schemas.openxmlformats.org/officeDocument/2006/relationships/notesMaster" Target="/ppt/notesMasters/notesMaster1.xml" Id="Re5f03eb571184b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30 segundos. Presentar el objetivo general: construimos un detector de transacciones sospechosas y usamos el problema para comparar una solución inicial con distintas optimizaciones. Aclarar que todas las versiones encuentran exactamente las mismas alertas.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50 segundos. Explicar los cuatro patrones. El rendimiento importa porque cada transacción necesita consultar historial, tiempo, montos y ubicación. Con pocos datos cualquier enfoque parece rápido, pero los recorridos repetidos crecen mucho cuando aumenta el volumen.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60 segundos. Mostrar la arquitectura general: modelos.py define los datos, generador.py crea el caso de prueba, algoritmos_ordenamiento.py contiene los dos algoritmos y detectores.py reúne las versiones. La baseline primero ordena con Burbuja y después vuelve a buscar el historial para cada operación.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Duración sugerida: 75 segundos. Derivar Burbuja: suma n menos 1, n menos 2, hasta 1, que da n por n menos 1 dividido 2. Se eliminan constantes y queda O de n cuadrado. En Quicksort hay aproximadamente logaritmo base dos de n niveles y cada nivel revisa n elementos, por eso el promedio es O de n log n. La búsqueda lineal repetida también vuelve cuadrática a la baseline.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Duración sugerida: 60 segundos. Justificar la elección: Quicksort mantiene un código entendible y mejora la escalabilidad. La búsqueda binaria no sirve como operación principal porque no buscamos un único valor. Debemos recorrer todas las operaciones y mantener ventanas temporales. Explicar también list, dict, deque y set con la operación que cada estructura mejora.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Duración sugerida: 60 segundos. Explicar la diferencia pedida por el enunciado. Memoización guarda un cálculo para reutilizarlo. El caché además necesita capacidad e invalidación. En un mismo análisis el perfil no cambia, por eso se consulta 5.000 veces pero solo se calcula para los 101 usuarios. Cuando cambia el conjunto de datos se borra el caché.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60 segundos. Cada usuario es independiente, por eso se reparten grupos entre procesos con ProcessPoolExecutor. Se eligieron procesos porque el trabajo es de CPU y los hilos están limitados por el GIL. Los riesgos son creación de procesos, serialización, memoria adicional y orden de resultados. No hay condición de carrera porque cada proceso devuelve su propia lista y el principal las combina.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Duración sugerida: 60 segundos. Nombrar las herramientas: perf_counter para tiempo, tracemalloc para pico de memoria y cProfile para tiempo por función. El perfil inicial tardó 0,809 segundos y Burbuja acumuló 0,411. La versión optimizada tardó 0,013. El perfilado permitió localizar el cuello de botella antes de decidir el cambio.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Duración sugerida: 70 segundos. Esta es la tabla obligatoria. Destacar que todas las filas devuelven nueve alertas, así que se compara rendimiento sin cambiar el resultado. La mayor reducción aparece al combinar el algoritmo y el caché. La memoria de la fila paralela corresponde al proceso principal porque tracemalloc no incluye toda la memoria interna de los procesos hijos.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50 segundos. La prueba se repitió con mil, dos mil quinientas y cinco mil transacciones. La mejora pasó de 32,6 veces a 155,6 veces. La curva cuadrática crece cada vez más rápido, mientras la optimizada aumenta casi de forma lineal en estos tamaños. Esto responde a la pregunta de si la mejora se mantiene al aumentar el volumen.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Duración sugerida: 60 a 90 segundos. Abrir primero algoritmos_ordenamiento.py y señalar las dos funciones. Después mostrar CachePerfiles y detectar_paralelo sin explicar toda la interfaz. Ejecutar python main.py interfaz. Presionar Analizar para demostrar las alertas y luego Comparar versiones para mostrar la tabla. Aclarar la diferencia: Analizar demuestra la funcionalidad y Comparar versiones demuestra el rendimiento.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45 segundos. Cerrar con tres respuestas directas al enunciado. La mayor mejora vino del algoritmo, las estructuras y el caché. La decisión que no mejoró el tiempo fue el paralelismo. En una siguiente versión usaríamos datos reales y reglas de mayor costo, pero volveríamos a perfilar antes de decidir.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d404975db4c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b107cba1b42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e2600ac1646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59f49037249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b940c7c1e42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c874b5b2345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b29f1cbd84ee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3e785d2eb4c3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6711f91188414d" /><Relationship Type="http://schemas.openxmlformats.org/officeDocument/2006/relationships/slideLayout" Target="/ppt/slideLayouts/slideLayout1.xml" Id="Red1bea705c604fed" /><Relationship Type="http://schemas.openxmlformats.org/officeDocument/2006/relationships/slideLayout" Target="/ppt/slideLayouts/slideLayout2.xml" Id="Rec68e068dad24226" /><Relationship Type="http://schemas.openxmlformats.org/officeDocument/2006/relationships/slideLayout" Target="/ppt/slideLayouts/slideLayout3.xml" Id="Raa0a8f97f0714653" /><Relationship Type="http://schemas.openxmlformats.org/officeDocument/2006/relationships/slideLayout" Target="/ppt/slideLayouts/slideLayout4.xml" Id="R409fc6206e124ea6" /><Relationship Type="http://schemas.openxmlformats.org/officeDocument/2006/relationships/slideLayout" Target="/ppt/slideLayouts/slideLayout5.xml" Id="Re7d7893c8c624a44" /><Relationship Type="http://schemas.openxmlformats.org/officeDocument/2006/relationships/slideLayout" Target="/ppt/slideLayouts/slideLayout6.xml" Id="Re21f3cd5db704ee7" /><Relationship Type="http://schemas.openxmlformats.org/officeDocument/2006/relationships/slideLayout" Target="/ppt/slideLayouts/slideLayout7.xml" Id="Rac52e351835c4b4f" /><Relationship Type="http://schemas.openxmlformats.org/officeDocument/2006/relationships/slideLayout" Target="/ppt/slideLayouts/slideLayout8.xml" Id="R0dcc2a9faafd4d3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1bea705c604fed"/>
    <p:sldLayoutId xmlns:r="http://schemas.openxmlformats.org/officeDocument/2006/relationships" id="2147483650" r:id="Rec68e068dad24226"/>
    <p:sldLayoutId xmlns:r="http://schemas.openxmlformats.org/officeDocument/2006/relationships" id="2147483651" r:id="Raa0a8f97f0714653"/>
    <p:sldLayoutId xmlns:r="http://schemas.openxmlformats.org/officeDocument/2006/relationships" id="2147483652" r:id="R409fc6206e124ea6"/>
    <p:sldLayoutId xmlns:r="http://schemas.openxmlformats.org/officeDocument/2006/relationships" id="2147483653" r:id="Re7d7893c8c624a44"/>
    <p:sldLayoutId xmlns:r="http://schemas.openxmlformats.org/officeDocument/2006/relationships" id="2147483654" r:id="Re21f3cd5db704ee7"/>
    <p:sldLayoutId xmlns:r="http://schemas.openxmlformats.org/officeDocument/2006/relationships" id="2147483655" r:id="Rac52e351835c4b4f"/>
    <p:sldLayoutId xmlns:r="http://schemas.openxmlformats.org/officeDocument/2006/relationships" id="2147483656" r:id="R0dcc2a9faafd4d3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fad907b824748" /><Relationship Type="http://schemas.openxmlformats.org/officeDocument/2006/relationships/image" Target="/ppt/media/image.png" Id="R223f09b02dad44de" /><Relationship Type="http://schemas.openxmlformats.org/officeDocument/2006/relationships/notesSlide" Target="/ppt/notesSlides/notesSlide1.xml" Id="Rf52d22e1f32046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f9515da904e83" /><Relationship Type="http://schemas.openxmlformats.org/officeDocument/2006/relationships/notesSlide" Target="/ppt/notesSlides/notesSlide2.xml" Id="Rcfbf724a1dfd45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98b6499914504" /><Relationship Type="http://schemas.openxmlformats.org/officeDocument/2006/relationships/notesSlide" Target="/ppt/notesSlides/notesSlide3.xml" Id="R932474a4610e40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7829b8bed44b6" /><Relationship Type="http://schemas.openxmlformats.org/officeDocument/2006/relationships/notesSlide" Target="/ppt/notesSlides/notesSlide4.xml" Id="R79670f7884f54e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af6a5fd5041f2" /><Relationship Type="http://schemas.openxmlformats.org/officeDocument/2006/relationships/notesSlide" Target="/ppt/notesSlides/notesSlide5.xml" Id="Rdde3c40a8da149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0317b5231e46fc" /><Relationship Type="http://schemas.openxmlformats.org/officeDocument/2006/relationships/notesSlide" Target="/ppt/notesSlides/notesSlide6.xml" Id="R97840f253f0b42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5c39b5ce4457f" /><Relationship Type="http://schemas.openxmlformats.org/officeDocument/2006/relationships/notesSlide" Target="/ppt/notesSlides/notesSlide7.xml" Id="R2ea385fb0ae341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0de212120c4f6d" /><Relationship Type="http://schemas.openxmlformats.org/officeDocument/2006/relationships/chart" Target="/ppt/slides/charts/chart1.xml" Id="R46f346a8acb14df0" /><Relationship Type="http://schemas.openxmlformats.org/officeDocument/2006/relationships/notesSlide" Target="/ppt/notesSlides/notesSlide8.xml" Id="R72be4167ecaa4f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32e6fcd6d4592" /><Relationship Type="http://schemas.openxmlformats.org/officeDocument/2006/relationships/notesSlide" Target="/ppt/notesSlides/notesSlide9.xml" Id="Rd66a91191e4547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0adc06b3a4dae" /><Relationship Type="http://schemas.openxmlformats.org/officeDocument/2006/relationships/chart" Target="/ppt/slides/charts/chart2.xml" Id="R5d323284eaae44f8" /><Relationship Type="http://schemas.openxmlformats.org/officeDocument/2006/relationships/notesSlide" Target="/ppt/notesSlides/notesSlide10.xml" Id="R5909da2aef1a43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f89afb648d4be9" /><Relationship Type="http://schemas.openxmlformats.org/officeDocument/2006/relationships/notesSlide" Target="/ppt/notesSlides/notesSlide11.xml" Id="R43cea942ec4647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9aff5fcf24f56" /><Relationship Type="http://schemas.openxmlformats.org/officeDocument/2006/relationships/notesSlide" Target="/ppt/notesSlides/notesSlide12.xml" Id="R7ddc0142c06c411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Tiempo</c:v>
          </c:tx>
          <c:spPr>
            <a:solidFill xmlns:a="http://schemas.openxmlformats.org/drawingml/2006/main">
              <a:srgbClr val="F67576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6757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0A98A"/>
              </a:solidFill>
            </c:spPr>
          </c:dPt>
          <c:cat>
            <c:strLit>
              <c:ptCount val="2"/>
              <c:pt idx="0">
                <c:v>Inicial</c:v>
              </c:pt>
              <c:pt idx="1">
                <c:v>Optimizada</c:v>
              </c:pt>
            </c:strLit>
          </c:cat>
          <c:val>
            <c:numLit>
              <c:formatCode>0.000</c:formatCode>
              <c:ptCount val="2"/>
              <c:pt idx="0">
                <c:v>0.809</c:v>
              </c:pt>
              <c:pt idx="1">
                <c:v>0.013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0264F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4515C"/>
                    </a:solidFill>
                    <a:latin typeface="Helvetica Neue"/>
                    <a:ea typeface="Helvetica Neue"/>
                    <a:cs typeface="Helvetica Neue"/>
                  </a:rPr>
                  <a:t>Segundos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4515C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Inicial</c:v>
          </c:tx>
          <c:spPr>
            <a:ln xmlns:a="http://schemas.openxmlformats.org/drawingml/2006/main" w="38100">
              <a:solidFill>
                <a:srgbClr val="F67576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67576"/>
              </a:solidFill>
            </c:spPr>
          </c:marker>
          <c:cat>
            <c:numLit>
              <c:formatCode>General</c:formatCode>
              <c:ptCount val="3"/>
              <c:pt idx="0">
                <c:v>1.000</c:v>
              </c:pt>
              <c:pt idx="1">
                <c:v>2.500</c:v>
              </c:pt>
              <c:pt idx="2">
                <c:v>5.000</c:v>
              </c:pt>
            </c:numLit>
          </c:cat>
          <c:val>
            <c:numLit>
              <c:formatCode>0.0</c:formatCode>
              <c:ptCount val="3"/>
              <c:pt idx="0">
                <c:v>0.0361</c:v>
              </c:pt>
              <c:pt idx="1">
                <c:v>0.2053</c:v>
              </c:pt>
              <c:pt idx="2">
                <c:v>0.792</c:v>
              </c:pt>
            </c:numLit>
          </c:val>
        </c:ser>
        <c:ser>
          <c:idx val="1"/>
          <c:order val="1"/>
          <c:tx>
            <c:v>Optimizada</c:v>
          </c:tx>
          <c:spPr>
            <a:ln xmlns:a="http://schemas.openxmlformats.org/drawingml/2006/main" w="38100">
              <a:solidFill>
                <a:srgbClr val="20A98A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20A98A"/>
              </a:solidFill>
            </c:spPr>
          </c:marker>
          <c:cat>
            <c:numLit>
              <c:formatCode>General</c:formatCode>
              <c:ptCount val="3"/>
              <c:pt idx="0">
                <c:v>1.000</c:v>
              </c:pt>
              <c:pt idx="1">
                <c:v>2.500</c:v>
              </c:pt>
              <c:pt idx="2">
                <c:v>5.000</c:v>
              </c:pt>
            </c:numLit>
          </c:cat>
          <c:val>
            <c:numLit>
              <c:formatCode>0.0</c:formatCode>
              <c:ptCount val="3"/>
              <c:pt idx="0">
                <c:v>0.0011</c:v>
              </c:pt>
              <c:pt idx="1">
                <c:v>0.0027</c:v>
              </c:pt>
              <c:pt idx="2">
                <c:v>0.0051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44515C"/>
                    </a:solidFill>
                    <a:latin typeface="Helvetica Neue"/>
                    <a:ea typeface="Helvetica Neue"/>
                    <a:cs typeface="Helvetica Neue"/>
                  </a:rPr>
                  <a:t>Transacciones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44515C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44515C"/>
                    </a:solidFill>
                    <a:latin typeface="Helvetica Neue"/>
                    <a:ea typeface="Helvetica Neue"/>
                    <a:cs typeface="Helvetica Neue"/>
                  </a:rPr>
                  <a:t>Segundos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44515C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44515C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f09b02dad44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D24CF-405A-40A4-9D26-FD34AE4B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PRIMER PARCIAL · PROGRAMACIÓN EFICIENTE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1CD4C-BF90-418B-9E1C-D41936EB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71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Detector eficiente de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transacciones sospechosas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6CF10-F379-4747-88CA-8A71764E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Python · Opción 5 · Implementación y análisis de rendimiento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1</a:t>
            </a: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lIns="38100" tIns="38100" rIns="38100" bIns="38100" anchor="ctr">
            <a:normAutofit fontScale="9553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fld id="{CBAEABBA-AD62-52D1-5588-17C604158753}" type="slidenum"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02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El problema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lIns="1905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Monto alto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Un monto supera el perfil habitual del usuario.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lIns="1905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Ráfaga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Cinco o más operaciones dentro de 60 segundos.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Operación repetida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Tres compras iguales dentro de cinco minutos.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Ubicaciones simultáneas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Actividad cercana desde ciudades diferentes.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1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fld id="{0BADEEDC-EEE1-8597-0639-A35D9BA153EC}" type="slidenum"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03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Diseño inicial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8872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8872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8872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SALIDA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Detección inicial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Burbuja y recorridos repetidos sobre el historial.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Transacciones desordenadas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ID, usuario, tiempo, monto, comercio y ubicación.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Alertas ordenadas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Cuatro patrones y nueve alertas en el caso de prueba.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1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fld id="{F9970F6C-59B2-055B-5132-2DC31A7003A7}" type="slidenum"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04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Complejidad algorítmica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Burbuja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Compara vecinos en pasadas sucesivas.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96349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575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(n−1)+(n−2)+…+1 = n(n−1)/2</a:t>
            </a:r>
          </a:p>
          <a:p xmlns:a="http://schemas.openxmlformats.org/drawingml/2006/main">
            <a:pPr marL="228600" lvl="0" indent="-228600"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575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O(n²)</a:t>
            </a:r>
          </a:p>
          <a:p xmlns:a="http://schemas.openxmlformats.org/drawingml/2006/main">
            <a:pPr marL="228600" lvl="0" indent="-228600"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575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Duplicar n puede cuadruplicar el trabajo.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Quicksort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Divide la lista alrededor de un pivote.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96349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575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n elementos × log₂(n) niveles</a:t>
            </a:r>
          </a:p>
          <a:p xmlns:a="http://schemas.openxmlformats.org/drawingml/2006/main">
            <a:pPr marL="228600" lvl="0" indent="-228600"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575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O(n log n) promedio</a:t>
            </a:r>
          </a:p>
          <a:p xmlns:a="http://schemas.openxmlformats.org/drawingml/2006/main">
            <a:pPr marL="228600" lvl="0" indent="-228600"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575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El ordenamiento domina la versión optimizada.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Operaciones críticas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Ordenar por tiempo y consultar el historial. La baseline repite búsquedas lineales dentro del ciclo principal.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1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fld id="{5370F4AC-E6D1-01EE-6732-05F7C8E78B55}" type="slidenum"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05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 Algoritmos y estructuras de datos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Quicksort · O(n log n)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Ordena por tiempo antes de aplicar las reglas.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Burbuja · O(n²)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Simple y útil como baseline, pero escala mal.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deque + list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cola quita el elemento más antiguo en O(1).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dict + set · O(1) promedio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Agrupan usuarios, cuentan datos y evitan duplicados.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  <a:defRPr sz="17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Quicksort reemplaza a Burbuja. Diccionarios y colas evitan recorridos y desplazamientos innecesarios.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1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fld id="{39BFB0FA-5DC7-50DB-D53A-0B6D0E34987E}" type="slidenum"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06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5. Memoización y caching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1905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Perfil por usuario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Promedio, desviación y límite de monto alto.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buFontTx/>
              <a:buNone/>
              <a:def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101 cálculos reales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Memoización: reutiliza el resultado del cálculo para el mismo usuario.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cap="none" spc="0">
                <a:ln>
                  <a:noFill/>
                </a:ln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Caching: agrega una capacidad máxima de 1.024 perfiles y una política de invalidación. Al cargar datos nuevos aumenta la versión y ejecuta cache_clear().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buFontTx/>
              <a:buNone/>
              <a:def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4.899 reutilizaciones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buFontTx/>
              <a:buNone/>
              <a:def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Clave: usuario + versión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buFontTx/>
              <a:buNone/>
              <a:def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cache_clear() con datos nuevos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buFontTx/>
              <a:buNone/>
              <a:def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Sin perfiles obsoletos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1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fld id="{C1C5B3A8-B30B-D205-8921-516C108AB9AB}" type="slidenum"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07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6. Concurrencia y paralelismo</a:t>
            </a:r>
          </a:p>
        </p:txBody>
      </p:sp>
      <p:cxnSp>
        <p:nvCxnSpPr>
          <p:cNvPr id="29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Separación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Se agrupan usuarios. Cada lote puede analizarse sin depender de los demás.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ProcessPoolExecutor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Usa procesos para trabajo de CPU y evita compartir estado mutable.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Resultado medido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Dos procesos tardaron 0,0797 s. El overhead superó el beneficio.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PROCESOS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GRUPOS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COMBINAR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1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fld id="{22E54B70-3376-18BE-56BD-5BB8BA701776}" type="slidenum"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08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7. Perfilado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Cambio aplicado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Quicksort, ventanas deslizantes y caché.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937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688632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Cuello de botella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Burbuja acumuló 0,411 s.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8153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7646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3810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Impacto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cProfile: 0,809 s frente a 0,013 s.</a:t>
            </a:r>
          </a:p>
        </p:txBody>
      </p:sp>
      <p:graphicFrame>
        <p:nvGraphicFramePr>
          <p:cNvPr id="544" name="Chart"/>
          <p:cNvGraphicFramePr/>
          <p:nvPr/>
        </p:nvGraphicFramePr>
        <p:xfrm>
          <a:off xmlns:a="http://schemas.openxmlformats.org/drawingml/2006/main" x="409575" y="1381125"/>
          <a:ext xmlns:a="http://schemas.openxmlformats.org/drawingml/2006/main" cx="5143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f346a8acb14df0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1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fld id="{44235D47-801C-AA1F-E2A0-5E98061CBF6D}" type="slidenum"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09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8. Comparación de resultados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  <a:defRPr sz="17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Mismas 5.000 transacciones y 9 alertas en las cinco implementaciones.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1619250"/>
                <a:gridCol w="1619250"/>
                <a:gridCol w="5010150"/>
              </a:tblGrid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Versión</a:t>
                      </a:r>
                    </a:p>
                  </a:txBody>
                  <a:tcPr marL="95250" marR="95250" marT="76200" marB="76200" anchor="ctr" horzOverflow="clip">
                    <a:solidFill>
                      <a:srgbClr val="00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Tiempo</a:t>
                      </a:r>
                    </a:p>
                  </a:txBody>
                  <a:tcPr marL="95250" marR="95250" marT="76200" marB="76200" anchor="ctr" horzOverflow="clip">
                    <a:solidFill>
                      <a:srgbClr val="00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Memoria</a:t>
                      </a:r>
                    </a:p>
                  </a:txBody>
                  <a:tcPr marL="95250" marR="95250" marT="76200" marB="76200" anchor="ctr" horzOverflow="clip">
                    <a:solidFill>
                      <a:srgbClr val="00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Observación</a:t>
                      </a:r>
                    </a:p>
                  </a:txBody>
                  <a:tcPr marL="95250" marR="95250" marT="76200" marB="76200" anchor="ctr" horzOverflow="clip">
                    <a:solidFill>
                      <a:srgbClr val="00264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Implementación inicial</a:t>
                      </a:r>
                    </a:p>
                  </a:txBody>
                  <a:tcPr marL="95250" marR="95250" marT="76200" marB="76200" anchor="ctr" horzOverflow="clip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0,9273 s</a:t>
                      </a:r>
                    </a:p>
                  </a:txBody>
                  <a:tcPr marL="95250" marR="95250" marT="76200" marB="76200" anchor="ctr" horzOverflow="clip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0,08 MB</a:t>
                      </a:r>
                    </a:p>
                  </a:txBody>
                  <a:tcPr marL="95250" marR="95250" marT="76200" marB="76200" anchor="ctr" horzOverflow="clip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</a:t>
                      </a:r>
                    </a:p>
                  </a:txBody>
                  <a:tcPr marL="95250" marR="95250" marT="76200" marB="76200" anchor="ctr" horzOverflow="clip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Estructura optimizada</a:t>
                      </a:r>
                    </a:p>
                  </a:txBody>
                  <a:tcPr marL="95250" marR="95250" marT="76200" marB="76200" anchor="ctr" horzOverflow="clip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0,0530 s</a:t>
                      </a:r>
                    </a:p>
                  </a:txBody>
                  <a:tcPr marL="95250" marR="95250" marT="76200" marB="76200" anchor="ctr" horzOverflow="clip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0,06 MB</a:t>
                      </a:r>
                    </a:p>
                  </a:txBody>
                  <a:tcPr marL="95250" marR="95250" marT="76200" marB="76200" anchor="ctr" horzOverflow="clip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dict, deque y set</a:t>
                      </a:r>
                    </a:p>
                  </a:txBody>
                  <a:tcPr marL="95250" marR="95250" marT="76200" marB="76200" anchor="ctr" horzOverflow="clip">
                    <a:solidFill>
                      <a:srgbClr val="F4F7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Algoritmo optimizado</a:t>
                      </a:r>
                    </a:p>
                  </a:txBody>
                  <a:tcPr marL="95250" marR="95250" marT="76200" marB="76200" anchor="ctr" horzOverflow="clip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0,0125 s</a:t>
                      </a:r>
                    </a:p>
                  </a:txBody>
                  <a:tcPr marL="95250" marR="95250" marT="76200" marB="76200" anchor="ctr" horzOverflow="clip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0,08 MB</a:t>
                      </a:r>
                    </a:p>
                  </a:txBody>
                  <a:tcPr marL="95250" marR="95250" marT="76200" marB="76200" anchor="ctr" horzOverflow="clip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Quicksort y caché</a:t>
                      </a:r>
                    </a:p>
                  </a:txBody>
                  <a:tcPr marL="95250" marR="95250" marT="76200" marB="76200" anchor="ctr" horzOverflow="clip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Concurrencia/paralelismo</a:t>
                      </a:r>
                    </a:p>
                  </a:txBody>
                  <a:tcPr marL="95250" marR="95250" marT="76200" marB="76200" anchor="ctr" horzOverflow="clip">
                    <a:solidFill>
                      <a:srgbClr val="FFF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0,0797 s</a:t>
                      </a:r>
                    </a:p>
                  </a:txBody>
                  <a:tcPr marL="95250" marR="95250" marT="76200" marB="76200" anchor="ctr" horzOverflow="clip">
                    <a:solidFill>
                      <a:srgbClr val="FFF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1,17 MB</a:t>
                      </a:r>
                    </a:p>
                  </a:txBody>
                  <a:tcPr marL="95250" marR="95250" marT="76200" marB="76200" anchor="ctr" horzOverflow="clip">
                    <a:solidFill>
                      <a:srgbClr val="FFF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Overhead de 2 procesos</a:t>
                      </a:r>
                    </a:p>
                  </a:txBody>
                  <a:tcPr marL="95250" marR="95250" marT="76200" marB="76200" anchor="ctr" horzOverflow="clip">
                    <a:solidFill>
                      <a:srgbClr val="FFF8E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6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Versión final</a:t>
                      </a:r>
                    </a:p>
                  </a:txBody>
                  <a:tcPr marL="95250" marR="95250" marT="76200" marB="76200" anchor="ctr" horzOverflow="clip">
                    <a:solidFill>
                      <a:srgbClr val="E5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6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0,0104 s</a:t>
                      </a:r>
                    </a:p>
                  </a:txBody>
                  <a:tcPr marL="95250" marR="95250" marT="76200" marB="76200" anchor="ctr" horzOverflow="clip">
                    <a:solidFill>
                      <a:srgbClr val="E5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6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0,08 MB</a:t>
                      </a:r>
                    </a:p>
                  </a:txBody>
                  <a:tcPr marL="95250" marR="95250" marT="76200" marB="76200" anchor="ctr" horzOverflow="clip">
                    <a:solidFill>
                      <a:srgbClr val="E5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6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Secuencial optimizada</a:t>
                      </a:r>
                    </a:p>
                  </a:txBody>
                  <a:tcPr marL="95250" marR="95250" marT="76200" marB="76200" anchor="ctr" horzOverflow="clip">
                    <a:solidFill>
                      <a:srgbClr val="E5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1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8. Escalabilidad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4"/>
            <a:ext cx="2133315" cy="1155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3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u="none" cap="none" spc="0">
                <a:ln>
                  <a:noFill/>
                </a:ln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32,6×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934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4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mejora con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4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1.000 transacciones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4"/>
            <a:ext cx="2133315" cy="1155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375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u="none" cap="none" spc="0">
                <a:ln>
                  <a:noFill/>
                </a:ln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155,6×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t">
            <a:normAutofit fontScale="934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4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mejora con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4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5.000 transacciones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distancia aumenta con el volumen, como predicen O(n²) y O(n log n).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55245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323284eaae44f8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Partes a mostrar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 algoritmos_ordenamiento.py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Burbuja y Quicksort.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2. detectores.py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CachePerfiles y ProcessPoolExecutor.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3. medicion.py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perf_counter y tracemalloc.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1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38100" tIns="38100" rIns="38100" bIns="38100" anchor="ctr">
            <a:normAutofit fontScale="954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9. Demostración del código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7620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Ejecución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python main.py interfaz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Analizar</a:t>
            </a: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: ejecuta la versión final y muestra las alertas.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Comparar versiones</a:t>
            </a: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: mide las cinco estrategias.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650"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5.000 transacciones · 9 alertas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7C133-2F9A-41A2-9E0A-D5CB42C5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10. 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9E1BC-886F-42F0-9AD4-0D9C9369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Mayor impacto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D09A0-0F59-42FD-8528-E2B322B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Quicksort, ventanas deslizantes y caché redujeron el tiempo de 0,9273 s a 0,0104 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1D045-E5C8-4299-AFD9-7A427CF9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Sin mejora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F136B-8853-4483-B4E3-9739FA7E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El paralelismo fue más lento por el costo de crear procesos y transferir datos.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B4672-6305-4B66-91AF-3D642412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Próximo paso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C8314-94E0-4D76-81DF-8EC56F0B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291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Probar datos reales y reglas más costosas. Volver a medir antes de paralelizar.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BE2D8-36E0-4150-BE71-2A873BC1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2026-09-10T23:30:36.8740000Z</dcterms:created>
  <dcterms:modified xsi:type="dcterms:W3CDTF">2026-09-10T23:30:36.8740000Z</dcterms:modified>
</coreProperties>
</file>